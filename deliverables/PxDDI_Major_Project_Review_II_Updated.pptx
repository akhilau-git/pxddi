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fd43d9691a4c10" /><Relationship Type="http://schemas.openxmlformats.org/officeDocument/2006/relationships/extended-properties" Target="/docProps/app.xml" Id="Rfd9ae1a77953428b" /><Relationship Type="http://schemas.openxmlformats.org/officeDocument/2006/relationships/officeDocument" Target="/ppt/presentation.xml" Id="R644d7f3745a049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befcdbcad54318"/>
  </p:sldMasterIdLst>
  <p:notesMasterIdLst>
    <p:notesMasterId xmlns:r="http://schemas.openxmlformats.org/officeDocument/2006/relationships" r:id="Raf1674951ac54e4a"/>
  </p:notesMasterIdLst>
  <p:sldIdLst>
    <p:sldId xmlns:r="http://schemas.openxmlformats.org/officeDocument/2006/relationships" id="256" r:id="R9ea9d47f8a9c47ac"/>
    <p:sldId xmlns:r="http://schemas.openxmlformats.org/officeDocument/2006/relationships" id="257" r:id="Re6555527e87242aa"/>
    <p:sldId xmlns:r="http://schemas.openxmlformats.org/officeDocument/2006/relationships" id="258" r:id="R8d2a5f04c29242c1"/>
    <p:sldId xmlns:r="http://schemas.openxmlformats.org/officeDocument/2006/relationships" id="259" r:id="R32ff564e77784826"/>
    <p:sldId xmlns:r="http://schemas.openxmlformats.org/officeDocument/2006/relationships" id="260" r:id="R5cd6a73168784ea0"/>
    <p:sldId xmlns:r="http://schemas.openxmlformats.org/officeDocument/2006/relationships" id="261" r:id="R97c0fcd5679946a3"/>
    <p:sldId xmlns:r="http://schemas.openxmlformats.org/officeDocument/2006/relationships" id="262" r:id="R133af647454a4a0c"/>
    <p:sldId xmlns:r="http://schemas.openxmlformats.org/officeDocument/2006/relationships" id="263" r:id="Re88dfcfdd83b4d4c"/>
    <p:sldId xmlns:r="http://schemas.openxmlformats.org/officeDocument/2006/relationships" id="264" r:id="R9606aec907374ef4"/>
    <p:sldId xmlns:r="http://schemas.openxmlformats.org/officeDocument/2006/relationships" id="265" r:id="Re9619360bd9c4bfc"/>
    <p:sldId xmlns:r="http://schemas.openxmlformats.org/officeDocument/2006/relationships" id="266" r:id="R0f6fa98eb5dd44a8"/>
    <p:sldId xmlns:r="http://schemas.openxmlformats.org/officeDocument/2006/relationships" id="267" r:id="R9d759c233edc4e15"/>
    <p:sldId xmlns:r="http://schemas.openxmlformats.org/officeDocument/2006/relationships" id="268" r:id="Rf2e515f6851e45e8"/>
    <p:sldId xmlns:r="http://schemas.openxmlformats.org/officeDocument/2006/relationships" id="269" r:id="R143312d844ee4b59"/>
    <p:sldId xmlns:r="http://schemas.openxmlformats.org/officeDocument/2006/relationships" id="270" r:id="R7053ef2cf1aa4e13"/>
    <p:sldId xmlns:r="http://schemas.openxmlformats.org/officeDocument/2006/relationships" id="271" r:id="Rbfb76f6785c24ccb"/>
    <p:sldId xmlns:r="http://schemas.openxmlformats.org/officeDocument/2006/relationships" id="272" r:id="Rd983e55829df4745"/>
    <p:sldId xmlns:r="http://schemas.openxmlformats.org/officeDocument/2006/relationships" id="273" r:id="R54149d8f04114cd2"/>
  </p:sldIdLst>
  <p:sldSz cx="12599988" cy="9180513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be1fcf3d2041c9" /><Relationship Type="http://schemas.openxmlformats.org/officeDocument/2006/relationships/slideMaster" Target="/ppt/slideMasters/slideMaster1.xml" Id="Rc9befcdbcad54318" /><Relationship Type="http://schemas.openxmlformats.org/officeDocument/2006/relationships/notesMaster" Target="/ppt/notesMasters/notesMaster1.xml" Id="Raf1674951ac54e4a" /><Relationship Type="http://schemas.openxmlformats.org/officeDocument/2006/relationships/presProps" Target="/ppt/presProps.xml" Id="Rd6643db5632a4ad6" /><Relationship Type="http://schemas.openxmlformats.org/officeDocument/2006/relationships/viewProps" Target="/ppt/viewProps.xml" Id="R0f5ad281819c4e5c" /><Relationship Type="http://schemas.openxmlformats.org/officeDocument/2006/relationships/tableStyles" Target="/ppt/tableStyles.xml" Id="R4b5bbc38f82b440c" /><Relationship Type="http://schemas.openxmlformats.org/officeDocument/2006/relationships/slide" Target="/ppt/slides/slide1.xml" Id="R9ea9d47f8a9c47ac" /><Relationship Type="http://schemas.openxmlformats.org/officeDocument/2006/relationships/slide" Target="/ppt/slides/slide2.xml" Id="Re6555527e87242aa" /><Relationship Type="http://schemas.openxmlformats.org/officeDocument/2006/relationships/slide" Target="/ppt/slides/slide3.xml" Id="R8d2a5f04c29242c1" /><Relationship Type="http://schemas.openxmlformats.org/officeDocument/2006/relationships/slide" Target="/ppt/slides/slide4.xml" Id="R32ff564e77784826" /><Relationship Type="http://schemas.openxmlformats.org/officeDocument/2006/relationships/slide" Target="/ppt/slides/slide5.xml" Id="R5cd6a73168784ea0" /><Relationship Type="http://schemas.openxmlformats.org/officeDocument/2006/relationships/slide" Target="/ppt/slides/slide6.xml" Id="R97c0fcd5679946a3" /><Relationship Type="http://schemas.openxmlformats.org/officeDocument/2006/relationships/slide" Target="/ppt/slides/slide7.xml" Id="R133af647454a4a0c" /><Relationship Type="http://schemas.openxmlformats.org/officeDocument/2006/relationships/slide" Target="/ppt/slides/slide8.xml" Id="Re88dfcfdd83b4d4c" /><Relationship Type="http://schemas.openxmlformats.org/officeDocument/2006/relationships/slide" Target="/ppt/slides/slide9.xml" Id="R9606aec907374ef4" /><Relationship Type="http://schemas.openxmlformats.org/officeDocument/2006/relationships/slide" Target="/ppt/slides/slide10.xml" Id="Re9619360bd9c4bfc" /><Relationship Type="http://schemas.openxmlformats.org/officeDocument/2006/relationships/slide" Target="/ppt/slides/slide11.xml" Id="R0f6fa98eb5dd44a8" /><Relationship Type="http://schemas.openxmlformats.org/officeDocument/2006/relationships/slide" Target="/ppt/slides/slide12.xml" Id="R9d759c233edc4e15" /><Relationship Type="http://schemas.openxmlformats.org/officeDocument/2006/relationships/slide" Target="/ppt/slides/slide13.xml" Id="Rf2e515f6851e45e8" /><Relationship Type="http://schemas.openxmlformats.org/officeDocument/2006/relationships/slide" Target="/ppt/slides/slide14.xml" Id="R143312d844ee4b59" /><Relationship Type="http://schemas.openxmlformats.org/officeDocument/2006/relationships/slide" Target="/ppt/slides/slide15.xml" Id="R7053ef2cf1aa4e13" /><Relationship Type="http://schemas.openxmlformats.org/officeDocument/2006/relationships/slide" Target="/ppt/slides/slide16.xml" Id="Rbfb76f6785c24ccb" /><Relationship Type="http://schemas.openxmlformats.org/officeDocument/2006/relationships/slide" Target="/ppt/slides/slide17.xml" Id="Rd983e55829df4745" /><Relationship Type="http://schemas.openxmlformats.org/officeDocument/2006/relationships/slide" Target="/ppt/slides/slide18.xml" Id="R54149d8f04114c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e89433e25e4a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c2184fa94746b7" /><Relationship Type="http://schemas.openxmlformats.org/officeDocument/2006/relationships/notesMaster" Target="/ppt/notesMasters/notesMaster1.xml" Id="R39c68df770f34f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41fb9693174306" /><Relationship Type="http://schemas.openxmlformats.org/officeDocument/2006/relationships/notesMaster" Target="/ppt/notesMasters/notesMaster1.xml" Id="Rb866bc69e89a48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84f96b40774c3e" /><Relationship Type="http://schemas.openxmlformats.org/officeDocument/2006/relationships/notesMaster" Target="/ppt/notesMasters/notesMaster1.xml" Id="Ra7aa11f24dde42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d0b07f69c649b7" /><Relationship Type="http://schemas.openxmlformats.org/officeDocument/2006/relationships/notesMaster" Target="/ppt/notesMasters/notesMaster1.xml" Id="R066792dcdbcf49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ff1e5eeecf46bd" /><Relationship Type="http://schemas.openxmlformats.org/officeDocument/2006/relationships/notesMaster" Target="/ppt/notesMasters/notesMaster1.xml" Id="Raec0df24c28d49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ea142d07a1419b" /><Relationship Type="http://schemas.openxmlformats.org/officeDocument/2006/relationships/notesMaster" Target="/ppt/notesMasters/notesMaster1.xml" Id="R4edc10511a0b41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8cc8db4ec045be" /><Relationship Type="http://schemas.openxmlformats.org/officeDocument/2006/relationships/notesMaster" Target="/ppt/notesMasters/notesMaster1.xml" Id="Rfa6063b3bb874d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f84e5e4bc14426" /><Relationship Type="http://schemas.openxmlformats.org/officeDocument/2006/relationships/notesMaster" Target="/ppt/notesMasters/notesMaster1.xml" Id="Ra18d0b6a886a4f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ed20f52f9e44a5" /><Relationship Type="http://schemas.openxmlformats.org/officeDocument/2006/relationships/notesMaster" Target="/ppt/notesMasters/notesMaster1.xml" Id="R5c015a8eba3a46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f0a51798834b05" /><Relationship Type="http://schemas.openxmlformats.org/officeDocument/2006/relationships/notesMaster" Target="/ppt/notesMasters/notesMaster1.xml" Id="Ra8ac4c5bece949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8c7e6354e0478e" /><Relationship Type="http://schemas.openxmlformats.org/officeDocument/2006/relationships/notesMaster" Target="/ppt/notesMasters/notesMaster1.xml" Id="R8fcd2494c30440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24a39daac44d38" /><Relationship Type="http://schemas.openxmlformats.org/officeDocument/2006/relationships/notesMaster" Target="/ppt/notesMasters/notesMaster1.xml" Id="R99a2cb2081a842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6419e493b94ab4" /><Relationship Type="http://schemas.openxmlformats.org/officeDocument/2006/relationships/notesMaster" Target="/ppt/notesMasters/notesMaster1.xml" Id="R6d1a7afc575d4f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e0e8f46d864f67" /><Relationship Type="http://schemas.openxmlformats.org/officeDocument/2006/relationships/notesMaster" Target="/ppt/notesMasters/notesMaster1.xml" Id="R6af1be18f7804c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fe21cf0e1c4929" /><Relationship Type="http://schemas.openxmlformats.org/officeDocument/2006/relationships/notesMaster" Target="/ppt/notesMasters/notesMaster1.xml" Id="R72a4781a367142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5200892f624224" /><Relationship Type="http://schemas.openxmlformats.org/officeDocument/2006/relationships/notesMaster" Target="/ppt/notesMasters/notesMaster1.xml" Id="R2077377d450a4a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080178541c4242" /><Relationship Type="http://schemas.openxmlformats.org/officeDocument/2006/relationships/notesMaster" Target="/ppt/notesMasters/notesMaster1.xml" Id="R3e707cc7f1ba48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0cc838905547fb" /><Relationship Type="http://schemas.openxmlformats.org/officeDocument/2006/relationships/notesMaster" Target="/ppt/notesMasters/notesMaster1.xml" Id="R9e9cf88e767841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Project title and team information supplied by the source presentation.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Project structure based on the updated PxDDI implementation.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Tatonetti NP et al. Sci Transl Med. 2012;4(125):125ra31. https://doi.org/10.1126/scitranslmed.3003377</a:t>
            </a:r>
            <a:endParaRPr/>
          </a:p>
          <a:p xmlns:a="http://schemas.openxmlformats.org/drawingml/2006/main">
            <a:r>
              <a:t>- PxDDI project scope: README.md and MODEL_CARD.md.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Tatonetti NP et al. 2012. https://doi.org/10.1126/scitranslmed.3003377</a:t>
            </a:r>
            <a:endParaRPr/>
          </a:p>
          <a:p xmlns:a="http://schemas.openxmlformats.org/drawingml/2006/main">
            <a:r>
              <a:t>- Zitnik M et al. 2018. https://doi.org/10.1093/bioinformatics/bty294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Ryu JY et al. 2018. https://doi.org/10.1073/pnas.1803294115</a:t>
            </a:r>
            <a:endParaRPr/>
          </a:p>
          <a:p xmlns:a="http://schemas.openxmlformats.org/drawingml/2006/main">
            <a:r>
              <a:t>- Zhou Y et al. 2024. https://doi.org/10.1038/s42256-024-00888-6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Chen Y et al. 2024. https://doi.org/10.1186/s12915-024-02030-9</a:t>
            </a:r>
            <a:endParaRPr/>
          </a:p>
          <a:p xmlns:a="http://schemas.openxmlformats.org/drawingml/2006/main">
            <a:r>
              <a:t>- PxDDI MODEL_CARD.md and docs/research_roadmap_status.md.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PxDDI README.md, MODEL_CARD.md and data-preparation source code.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PxDDI README.md, MODEL_CARD.md and toxicity-bridge audit workflow.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PxDDI MODEL_CARD.md and docs/research_roadmap_status.md.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PxDDI README.md and MODEL_CARD.md.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PxDDI README.md, MODEL_CARD.md and docs/research_roadmap_status.md.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PxDDI src/models/encoder.py, src/models/ddi_model.py and MODEL_CARD.md.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PxDDI requirements files, Dockerfile, docker-compose.yml and README.md.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PxDDI train_full_pipeline_v2.py and docs/research_roadmap_status.md.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PxDDI docs/research_roadmap_status.md and local test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Full citations are shown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Acknowledgement text supplied and retained from the source presentation, updated for the current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End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ebc23b5ec49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c1a961dbc4b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b5ee3a0d945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dc9f04f7348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1f124115845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3dc6d3cf141a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062dff49e47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3acd3ae304bc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98eb8cd584e7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7f86afc6e4a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217f3ea3b44b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bcde2908f477e" /><Relationship Type="http://schemas.openxmlformats.org/officeDocument/2006/relationships/image" Target="/ppt/media/image.png" Id="R268764bbddb44762" /><Relationship Type="http://schemas.openxmlformats.org/officeDocument/2006/relationships/image" Target="/ppt/media/image2.png" Id="R75fc3c278ff8483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5FA73-1A75-4D95-974E-2E24946126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44999" y="1502459"/>
            <a:ext cx="10709990" cy="3196179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8032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922BF00-7D58-4459-9B7B-7EA638BDAC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74999" y="4821895"/>
            <a:ext cx="9449991" cy="2216498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3213"/>
            </a:lvl1pPr>
            <a:lvl2pPr marL="612054" indent="0" algn="ctr">
              <a:buNone/>
              <a:defRPr sz="2677"/>
            </a:lvl2pPr>
            <a:lvl3pPr marL="1224107" indent="0" algn="ctr">
              <a:buNone/>
              <a:defRPr sz="2410"/>
            </a:lvl3pPr>
            <a:lvl4pPr marL="1836161" indent="0" algn="ctr">
              <a:buNone/>
              <a:defRPr sz="2142"/>
            </a:lvl4pPr>
            <a:lvl5pPr marL="2448215" indent="0" algn="ctr">
              <a:buNone/>
              <a:defRPr sz="2142"/>
            </a:lvl5pPr>
            <a:lvl6pPr marL="3060268" indent="0" algn="ctr">
              <a:buNone/>
              <a:defRPr sz="2142"/>
            </a:lvl6pPr>
            <a:lvl7pPr marL="3672322" indent="0" algn="ctr">
              <a:buNone/>
              <a:defRPr sz="2142"/>
            </a:lvl7pPr>
            <a:lvl8pPr marL="4284375" indent="0" algn="ctr">
              <a:buNone/>
              <a:defRPr sz="2142"/>
            </a:lvl8pPr>
            <a:lvl9pPr marL="4896429" indent="0" algn="ctr">
              <a:buNone/>
              <a:defRPr sz="2142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1DA0A1-987F-4D6A-B40E-854D7EF7B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5/12/2026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2A2DC7-43F8-4558-9291-8A0BB50E39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CFDB51-F5E6-4592-8C0F-CDA866DED4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EC224B-4463-48B2-806F-61B0EC5BD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ED44DD-189F-4EF8-AD18-1A18CD1A44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E4DCD4-23F7-4941-8318-5DE4625097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5/12/2026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9B7D77-460F-46CC-8FBC-348614D3A8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76CA85-3B7C-45C0-86FC-422610476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9CA3A3-8AEF-4565-9733-D541BF136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9687" y="2288755"/>
            <a:ext cx="10867490" cy="3818838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8032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65FE3EC-067F-40A4-B0E5-079045B788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9687" y="6143721"/>
            <a:ext cx="10867490" cy="200823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13">
                <a:solidFill>
                  <a:schemeClr val="tx1"/>
                </a:solidFill>
              </a:defRPr>
            </a:lvl1pPr>
            <a:lvl2pPr marL="612054" indent="0">
              <a:buNone/>
              <a:defRPr sz="2677">
                <a:solidFill>
                  <a:schemeClr val="tx1">
                    <a:tint val="75000"/>
                  </a:schemeClr>
                </a:solidFill>
              </a:defRPr>
            </a:lvl2pPr>
            <a:lvl3pPr marL="1224107" indent="0">
              <a:buNone/>
              <a:defRPr sz="2410">
                <a:solidFill>
                  <a:schemeClr val="tx1">
                    <a:tint val="75000"/>
                  </a:schemeClr>
                </a:solidFill>
              </a:defRPr>
            </a:lvl3pPr>
            <a:lvl4pPr marL="1836161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4pPr>
            <a:lvl5pPr marL="2448215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5pPr>
            <a:lvl6pPr marL="3060268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6pPr>
            <a:lvl7pPr marL="3672322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7pPr>
            <a:lvl8pPr marL="4284375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8pPr>
            <a:lvl9pPr marL="4896429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FE6D3C-0455-49FE-8B1A-67DD1728B8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5/12/2026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EED096-6DA5-4639-9ABD-C7E5093F94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793F8A8-BFFB-4B6F-A6E6-E8BE89829C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4B3CE3-62A1-44C9-9F2D-4FAE31D15A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4128EE-30DB-40C3-877E-BFB6EF40AE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66249" y="2443887"/>
            <a:ext cx="5354995" cy="582495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23DF593-B425-46F5-9F74-9B01D81D171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378744" y="2443887"/>
            <a:ext cx="5354995" cy="582495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34B13A-EF84-41D2-968A-EA2565B3B0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5/12/2026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2A86322-86E2-4B6C-B95C-BB90516426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BA9AE2F-597E-4362-BDA3-E269421506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AB9DFC-ECF6-4AEE-9951-54158F7363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67890" y="488779"/>
            <a:ext cx="10867490" cy="17744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E4711CD-9988-405E-802F-9A873785B9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67892" y="2250501"/>
            <a:ext cx="5330385" cy="1102936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3213" b="1"/>
            </a:lvl1pPr>
            <a:lvl2pPr marL="612054" indent="0">
              <a:buNone/>
              <a:defRPr sz="2677" b="1"/>
            </a:lvl2pPr>
            <a:lvl3pPr marL="1224107" indent="0">
              <a:buNone/>
              <a:defRPr sz="2410" b="1"/>
            </a:lvl3pPr>
            <a:lvl4pPr marL="1836161" indent="0">
              <a:buNone/>
              <a:defRPr sz="2142" b="1"/>
            </a:lvl4pPr>
            <a:lvl5pPr marL="2448215" indent="0">
              <a:buNone/>
              <a:defRPr sz="2142" b="1"/>
            </a:lvl5pPr>
            <a:lvl6pPr marL="3060268" indent="0">
              <a:buNone/>
              <a:defRPr sz="2142" b="1"/>
            </a:lvl6pPr>
            <a:lvl7pPr marL="3672322" indent="0">
              <a:buNone/>
              <a:defRPr sz="2142" b="1"/>
            </a:lvl7pPr>
            <a:lvl8pPr marL="4284375" indent="0">
              <a:buNone/>
              <a:defRPr sz="2142" b="1"/>
            </a:lvl8pPr>
            <a:lvl9pPr marL="4896429" indent="0">
              <a:buNone/>
              <a:defRPr sz="2142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B4C9494-58D8-4F8C-BF1A-080D8D48650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67892" y="3353438"/>
            <a:ext cx="5330385" cy="49324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F5FFD52-9DEA-42DE-B068-A80C7124AA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378745" y="2250501"/>
            <a:ext cx="5356636" cy="1102936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3213" b="1"/>
            </a:lvl1pPr>
            <a:lvl2pPr marL="612054" indent="0">
              <a:buNone/>
              <a:defRPr sz="2677" b="1"/>
            </a:lvl2pPr>
            <a:lvl3pPr marL="1224107" indent="0">
              <a:buNone/>
              <a:defRPr sz="2410" b="1"/>
            </a:lvl3pPr>
            <a:lvl4pPr marL="1836161" indent="0">
              <a:buNone/>
              <a:defRPr sz="2142" b="1"/>
            </a:lvl4pPr>
            <a:lvl5pPr marL="2448215" indent="0">
              <a:buNone/>
              <a:defRPr sz="2142" b="1"/>
            </a:lvl5pPr>
            <a:lvl6pPr marL="3060268" indent="0">
              <a:buNone/>
              <a:defRPr sz="2142" b="1"/>
            </a:lvl6pPr>
            <a:lvl7pPr marL="3672322" indent="0">
              <a:buNone/>
              <a:defRPr sz="2142" b="1"/>
            </a:lvl7pPr>
            <a:lvl8pPr marL="4284375" indent="0">
              <a:buNone/>
              <a:defRPr sz="2142" b="1"/>
            </a:lvl8pPr>
            <a:lvl9pPr marL="4896429" indent="0">
              <a:buNone/>
              <a:defRPr sz="2142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4E71637-E1D2-4197-BDA3-4C0F3D8F98C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378745" y="3353438"/>
            <a:ext cx="5356636" cy="49324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BB9BE8A-6DB9-40D1-B600-65F6A3868D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5/12/2026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7D67E1A-3AF4-475C-A942-A5D01AEA6A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78C777C-9EDE-4884-814A-485577C560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D55F29-9B9B-4AEF-9FA6-18CECEDBD2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07FAD91-030E-4086-A6DF-E0DFC03FB3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5/12/2026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25D06EF-75D6-4C0B-92FF-DA69C2D9BE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03A460C-E01B-48FA-BC44-330C04A152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87A87C3-DBD5-4218-931B-943BF8C261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5/12/2026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A0FA59B-C120-4F17-9D51-BC92F7142E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05AE3FE-2F98-422A-ABBC-5F769C89AB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E136AD-D44E-4F0D-89A6-B1BEEA9DB7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67890" y="612034"/>
            <a:ext cx="4063824" cy="214212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284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296147-F271-41BC-916F-AF0877DBAF6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356636" y="1321826"/>
            <a:ext cx="6378744" cy="652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284"/>
            </a:lvl1pPr>
            <a:lvl2pPr>
              <a:buNone/>
              <a:defRPr sz="3748"/>
            </a:lvl2pPr>
            <a:lvl3pPr>
              <a:buNone/>
              <a:defRPr sz="3213"/>
            </a:lvl3pPr>
            <a:lvl4pPr>
              <a:buNone/>
              <a:defRPr sz="2677"/>
            </a:lvl4pPr>
            <a:lvl5pPr>
              <a:buNone/>
              <a:defRPr sz="2677"/>
            </a:lvl5pPr>
            <a:lvl6pPr>
              <a:buNone/>
              <a:defRPr sz="2677"/>
            </a:lvl6pPr>
            <a:lvl7pPr>
              <a:buNone/>
              <a:defRPr sz="2677"/>
            </a:lvl7pPr>
            <a:lvl8pPr>
              <a:buNone/>
              <a:defRPr sz="2677"/>
            </a:lvl8pPr>
            <a:lvl9pPr>
              <a:buNone/>
              <a:defRPr sz="2677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FE9E34B-46EF-4955-AF75-DA1BBD0785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67890" y="2754154"/>
            <a:ext cx="4063824" cy="510241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142"/>
            </a:lvl1pPr>
            <a:lvl2pPr marL="612054" indent="0">
              <a:buNone/>
              <a:defRPr sz="1874"/>
            </a:lvl2pPr>
            <a:lvl3pPr marL="1224107" indent="0">
              <a:buNone/>
              <a:defRPr sz="1606"/>
            </a:lvl3pPr>
            <a:lvl4pPr marL="1836161" indent="0">
              <a:buNone/>
              <a:defRPr sz="1339"/>
            </a:lvl4pPr>
            <a:lvl5pPr marL="2448215" indent="0">
              <a:buNone/>
              <a:defRPr sz="1339"/>
            </a:lvl5pPr>
            <a:lvl6pPr marL="3060268" indent="0">
              <a:buNone/>
              <a:defRPr sz="1339"/>
            </a:lvl6pPr>
            <a:lvl7pPr marL="3672322" indent="0">
              <a:buNone/>
              <a:defRPr sz="1339"/>
            </a:lvl7pPr>
            <a:lvl8pPr marL="4284375" indent="0">
              <a:buNone/>
              <a:defRPr sz="1339"/>
            </a:lvl8pPr>
            <a:lvl9pPr marL="4896429" indent="0">
              <a:buNone/>
              <a:defRPr sz="1339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5B60D2-D107-40D1-8E7D-859DAE5553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5/12/2026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5E99D43-E2AE-4D2D-900D-C1CF2C60B8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24A64BA-9AD5-4D2B-99A6-B3CD21A734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DE0C3D-AE80-4EA7-94A0-58E9E3CBE2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67890" y="612034"/>
            <a:ext cx="4063824" cy="214212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284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BE3614A-D007-4DF9-B3AF-85E5A6576B0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356636" y="1321826"/>
            <a:ext cx="6378744" cy="652411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4284"/>
            </a:lvl1pPr>
            <a:lvl2pPr marL="612054" indent="0">
              <a:buNone/>
              <a:defRPr sz="3748"/>
            </a:lvl2pPr>
            <a:lvl3pPr marL="1224107" indent="0">
              <a:buNone/>
              <a:defRPr sz="3213"/>
            </a:lvl3pPr>
            <a:lvl4pPr marL="1836161" indent="0">
              <a:buNone/>
              <a:defRPr sz="2677"/>
            </a:lvl4pPr>
            <a:lvl5pPr marL="2448215" indent="0">
              <a:buNone/>
              <a:defRPr sz="2677"/>
            </a:lvl5pPr>
            <a:lvl6pPr marL="3060268" indent="0">
              <a:buNone/>
              <a:defRPr sz="2677"/>
            </a:lvl6pPr>
            <a:lvl7pPr marL="3672322" indent="0">
              <a:buNone/>
              <a:defRPr sz="2677"/>
            </a:lvl7pPr>
            <a:lvl8pPr marL="4284375" indent="0">
              <a:buNone/>
              <a:defRPr sz="2677"/>
            </a:lvl8pPr>
            <a:lvl9pPr marL="4896429" indent="0">
              <a:buNone/>
              <a:defRPr sz="2677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C9D800-8A9B-48C6-B3D2-1872C20A88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67890" y="2754154"/>
            <a:ext cx="4063824" cy="510241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142"/>
            </a:lvl1pPr>
            <a:lvl2pPr marL="612054" indent="0">
              <a:buNone/>
              <a:defRPr sz="1874"/>
            </a:lvl2pPr>
            <a:lvl3pPr marL="1224107" indent="0">
              <a:buNone/>
              <a:defRPr sz="1606"/>
            </a:lvl3pPr>
            <a:lvl4pPr marL="1836161" indent="0">
              <a:buNone/>
              <a:defRPr sz="1339"/>
            </a:lvl4pPr>
            <a:lvl5pPr marL="2448215" indent="0">
              <a:buNone/>
              <a:defRPr sz="1339"/>
            </a:lvl5pPr>
            <a:lvl6pPr marL="3060268" indent="0">
              <a:buNone/>
              <a:defRPr sz="1339"/>
            </a:lvl6pPr>
            <a:lvl7pPr marL="3672322" indent="0">
              <a:buNone/>
              <a:defRPr sz="1339"/>
            </a:lvl7pPr>
            <a:lvl8pPr marL="4284375" indent="0">
              <a:buNone/>
              <a:defRPr sz="1339"/>
            </a:lvl8pPr>
            <a:lvl9pPr marL="4896429" indent="0">
              <a:buNone/>
              <a:defRPr sz="1339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51EF091-3D43-4DC9-A67D-CF693A1F6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5/12/2026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816183E-1A3A-4965-AE06-70DB9B91FA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2A1B66-3CBD-4F86-BEE6-68B44A89DF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C9B8FF-F77D-431F-8A30-F548173EA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3A45AE-A9F8-450A-BBD8-1D8452E01B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AB85A9-5E68-4AA3-B0E8-B172EC8BDE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5/12/2026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56BFD9-4CAB-4C43-B119-BE24621ABB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F7FDAA-E1F3-4EC5-A44B-AC61C02328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14A8C56-5C11-4C44-B6CF-CA8615E93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16867" y="488778"/>
            <a:ext cx="2716872" cy="778006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30572C-833A-4203-8201-D67756C6B3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66250" y="488778"/>
            <a:ext cx="7993117" cy="778006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391D30-1D5C-47E5-8C20-7176C04C17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5/12/2026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FDC167B-A543-4BF0-A5CF-7EB0C271D7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F9B0DA-0BE4-4339-984C-C609B6AAF5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12.xml><?xml version="1.0" encoding="utf-8"?>
<p:sldLayout xmlns:p="http://schemas.openxmlformats.org/presentationml/2006/main">
  <p:cSld name="MASTER_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764bbddb4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5" y="18419"/>
            <a:ext cx="3424568" cy="1113596"/>
          </a:xfrm>
          <a:prstGeom xmlns:a="http://schemas.openxmlformats.org/drawingml/2006/main" prst="rect">
            <a:avLst/>
          </a:prstGeom>
        </p:spPr>
      </p:pic>
      <p:pic>
        <p:nvPicPr>
          <p:cNvPr id="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c3c278ff84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2719" y="3"/>
            <a:ext cx="4306821" cy="1113595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6c4926d87ef4496" /><Relationship Type="http://schemas.openxmlformats.org/officeDocument/2006/relationships/theme" Target="/ppt/slideMasters/theme/theme2.xml" Id="Rc6a6f599189b4f69" /><Relationship Type="http://schemas.openxmlformats.org/officeDocument/2006/relationships/slideLayout" Target="/ppt/slideLayouts/slideLayout1.xml" Id="Rc83f1434ce474cda" /><Relationship Type="http://schemas.openxmlformats.org/officeDocument/2006/relationships/slideLayout" Target="/ppt/slideLayouts/slideLayout2.xml" Id="Rb8df8bd04aa745fa" /><Relationship Type="http://schemas.openxmlformats.org/officeDocument/2006/relationships/slideLayout" Target="/ppt/slideLayouts/slideLayout3.xml" Id="Ra2a763e688014940" /><Relationship Type="http://schemas.openxmlformats.org/officeDocument/2006/relationships/slideLayout" Target="/ppt/slideLayouts/slideLayout4.xml" Id="R2fbc5de76c054638" /><Relationship Type="http://schemas.openxmlformats.org/officeDocument/2006/relationships/slideLayout" Target="/ppt/slideLayouts/slideLayout5.xml" Id="R53858b1454d34f1d" /><Relationship Type="http://schemas.openxmlformats.org/officeDocument/2006/relationships/slideLayout" Target="/ppt/slideLayouts/slideLayout6.xml" Id="Rb786e23ab132491a" /><Relationship Type="http://schemas.openxmlformats.org/officeDocument/2006/relationships/slideLayout" Target="/ppt/slideLayouts/slideLayout7.xml" Id="Rdc47d16b672740ff" /><Relationship Type="http://schemas.openxmlformats.org/officeDocument/2006/relationships/slideLayout" Target="/ppt/slideLayouts/slideLayout8.xml" Id="R2fda5315db1d41d3" /><Relationship Type="http://schemas.openxmlformats.org/officeDocument/2006/relationships/slideLayout" Target="/ppt/slideLayouts/slideLayout9.xml" Id="R1ba5638eafdd4dff" /><Relationship Type="http://schemas.openxmlformats.org/officeDocument/2006/relationships/slideLayout" Target="/ppt/slideLayouts/slideLayout10.xml" Id="R6bc8bfb80d8645ba" /><Relationship Type="http://schemas.openxmlformats.org/officeDocument/2006/relationships/slideLayout" Target="/ppt/slideLayouts/slideLayout11.xml" Id="Rbd47ff9272f54600" /><Relationship Type="http://schemas.openxmlformats.org/officeDocument/2006/relationships/slideLayout" Target="/ppt/slideLayouts/slideLayout12.xml" Id="R93f249e87ffb49e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C59F479-FCDC-4A3B-A405-1DA4BE63F2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66249" y="488779"/>
            <a:ext cx="10867490" cy="1774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9976FE-D339-4EF7-BC48-7EC79100DA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66249" y="2443887"/>
            <a:ext cx="10867490" cy="58249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030DCF-19CD-4CC8-A9CB-2B5565D0785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6249" y="8508978"/>
            <a:ext cx="2834997" cy="488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764DE79-268F-4C1A-8933-263129D2AF90}" type="datetimeFigureOut">
              <a:t>5/12/2026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5BB15B-35C2-4E4B-8951-49DDB4EEC6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73746" y="8508978"/>
            <a:ext cx="4252496" cy="488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16228E-7BD4-4E4B-9943-A4EBC811D11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98742" y="8508978"/>
            <a:ext cx="2834997" cy="488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  <p:pic>
        <p:nvPicPr>
          <p:cNvPr id="1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4926d87ef44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5" y="32586"/>
            <a:ext cx="3424568" cy="1113596"/>
          </a:xfrm>
          <a:prstGeom xmlns:a="http://schemas.openxmlformats.org/drawingml/2006/main" prst="rect">
            <a:avLst/>
          </a:prstGeom>
        </p:spPr>
      </p:pic>
      <p:sp>
        <p:nvSpPr>
          <p:cNvPr id="8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AC3CB5C4-B42B-DCDC-2ED7-E5BCA329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8634922"/>
            <a:ext cx="12611132" cy="52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19050">
            <a:solidFill>
              <a:srgbClr val="FFC000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400" b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DEPARTMENT OF CSE-AIML</a:t>
            </a:r>
            <a:endParaRPr sz="1200" b="1">
              <a:solidFill>
                <a:srgbClr val="FFC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3f1434ce474cda"/>
    <p:sldLayoutId xmlns:r="http://schemas.openxmlformats.org/officeDocument/2006/relationships" id="2147483650" r:id="Rb8df8bd04aa745fa"/>
    <p:sldLayoutId xmlns:r="http://schemas.openxmlformats.org/officeDocument/2006/relationships" id="2147483651" r:id="Ra2a763e688014940"/>
    <p:sldLayoutId xmlns:r="http://schemas.openxmlformats.org/officeDocument/2006/relationships" id="2147483652" r:id="R2fbc5de76c054638"/>
    <p:sldLayoutId xmlns:r="http://schemas.openxmlformats.org/officeDocument/2006/relationships" id="2147483653" r:id="R53858b1454d34f1d"/>
    <p:sldLayoutId xmlns:r="http://schemas.openxmlformats.org/officeDocument/2006/relationships" id="2147483654" r:id="Rb786e23ab132491a"/>
    <p:sldLayoutId xmlns:r="http://schemas.openxmlformats.org/officeDocument/2006/relationships" id="2147483655" r:id="Rdc47d16b672740ff"/>
    <p:sldLayoutId xmlns:r="http://schemas.openxmlformats.org/officeDocument/2006/relationships" id="2147483656" r:id="R2fda5315db1d41d3"/>
    <p:sldLayoutId xmlns:r="http://schemas.openxmlformats.org/officeDocument/2006/relationships" id="2147483657" r:id="R1ba5638eafdd4dff"/>
    <p:sldLayoutId xmlns:r="http://schemas.openxmlformats.org/officeDocument/2006/relationships" id="2147483658" r:id="R6bc8bfb80d8645ba"/>
    <p:sldLayoutId xmlns:r="http://schemas.openxmlformats.org/officeDocument/2006/relationships" id="2147483659" r:id="Rbd47ff9272f54600"/>
    <p:sldLayoutId xmlns:r="http://schemas.openxmlformats.org/officeDocument/2006/relationships" id="2147483660" r:id="R93f249e87ffb49ef"/>
  </p:sldLayoutIdLst>
  <p:hf sldNum="0" hdr="0" ftr="0" dt="0"/>
  <p:txStyles>
    <p:titleStyle>
      <a:lvl1pPr xmlns:a="http://schemas.openxmlformats.org/drawingml/2006/main" algn="l" defTabSz="1224107">
        <a:lnSpc>
          <a:spcPct val="90000"/>
        </a:lnSpc>
        <a:spcBef>
          <a:spcPct val="0"/>
        </a:spcBef>
        <a:buNone/>
        <a:defRPr sz="589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06027" indent="-306027" algn="l" defTabSz="1224107">
        <a:lnSpc>
          <a:spcPct val="90000"/>
        </a:lnSpc>
        <a:spcBef>
          <a:spcPts val="1339"/>
        </a:spcBef>
        <a:buFont typeface="Arial"/>
        <a:buChar char="•"/>
        <a:defRPr sz="374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918080" indent="-306027" algn="l" defTabSz="1224107">
        <a:lnSpc>
          <a:spcPct val="90000"/>
        </a:lnSpc>
        <a:spcBef>
          <a:spcPts val="669"/>
        </a:spcBef>
        <a:buFont typeface="Arial"/>
        <a:buChar char="•"/>
        <a:defRPr sz="321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530134" indent="-306027" algn="l" defTabSz="1224107">
        <a:lnSpc>
          <a:spcPct val="90000"/>
        </a:lnSpc>
        <a:spcBef>
          <a:spcPts val="669"/>
        </a:spcBef>
        <a:buFont typeface="Arial"/>
        <a:buChar char="•"/>
        <a:defRPr sz="267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142188" indent="-306027" algn="l" defTabSz="1224107">
        <a:lnSpc>
          <a:spcPct val="90000"/>
        </a:lnSpc>
        <a:spcBef>
          <a:spcPts val="669"/>
        </a:spcBef>
        <a:buFont typeface="Arial"/>
        <a:buChar char="•"/>
        <a:defRPr sz="241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754241" indent="-306027" algn="l" defTabSz="1224107">
        <a:lnSpc>
          <a:spcPct val="90000"/>
        </a:lnSpc>
        <a:spcBef>
          <a:spcPts val="669"/>
        </a:spcBef>
        <a:buFont typeface="Arial"/>
        <a:buChar char="•"/>
        <a:defRPr sz="241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366295" indent="-306027" algn="l" defTabSz="1224107">
        <a:lnSpc>
          <a:spcPct val="90000"/>
        </a:lnSpc>
        <a:spcBef>
          <a:spcPts val="669"/>
        </a:spcBef>
        <a:buFont typeface="Arial"/>
        <a:buChar char="•"/>
        <a:defRPr sz="241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978349" indent="-306027" algn="l" defTabSz="1224107">
        <a:lnSpc>
          <a:spcPct val="90000"/>
        </a:lnSpc>
        <a:spcBef>
          <a:spcPts val="669"/>
        </a:spcBef>
        <a:buFont typeface="Arial"/>
        <a:buChar char="•"/>
        <a:defRPr sz="241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590402" indent="-306027" algn="l" defTabSz="1224107">
        <a:lnSpc>
          <a:spcPct val="90000"/>
        </a:lnSpc>
        <a:spcBef>
          <a:spcPts val="669"/>
        </a:spcBef>
        <a:buFont typeface="Arial"/>
        <a:buChar char="•"/>
        <a:defRPr sz="241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202456" indent="-306027" algn="l" defTabSz="1224107">
        <a:lnSpc>
          <a:spcPct val="90000"/>
        </a:lnSpc>
        <a:spcBef>
          <a:spcPts val="669"/>
        </a:spcBef>
        <a:buFont typeface="Arial"/>
        <a:buChar char="•"/>
        <a:defRPr sz="241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224107">
        <a:buNone/>
        <a:defRPr sz="241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12054" algn="l" defTabSz="1224107">
        <a:buNone/>
        <a:defRPr sz="241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224107" algn="l" defTabSz="1224107">
        <a:buNone/>
        <a:defRPr sz="241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836161" algn="l" defTabSz="1224107">
        <a:buNone/>
        <a:defRPr sz="241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48215" algn="l" defTabSz="1224107">
        <a:buNone/>
        <a:defRPr sz="241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60268" algn="l" defTabSz="1224107">
        <a:buNone/>
        <a:defRPr sz="241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672322" algn="l" defTabSz="1224107">
        <a:buNone/>
        <a:defRPr sz="241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284375" algn="l" defTabSz="1224107">
        <a:buNone/>
        <a:defRPr sz="241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896429" algn="l" defTabSz="1224107">
        <a:buNone/>
        <a:defRPr sz="241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0d2d1f73d04d04" /><Relationship Type="http://schemas.openxmlformats.org/officeDocument/2006/relationships/notesSlide" Target="/ppt/notesSlides/notesSlide1.xml" Id="R9647bc44b2904e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ff3562838274b2a" /><Relationship Type="http://schemas.openxmlformats.org/officeDocument/2006/relationships/notesSlide" Target="/ppt/notesSlides/notesSlide2.xml" Id="Red5609f3beb346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8d60cdc48e2476b" /><Relationship Type="http://schemas.openxmlformats.org/officeDocument/2006/relationships/notesSlide" Target="/ppt/notesSlides/notesSlide3.xml" Id="R260f38d4fae6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4ec1c84dcdb47f7" /><Relationship Type="http://schemas.openxmlformats.org/officeDocument/2006/relationships/notesSlide" Target="/ppt/notesSlides/notesSlide4.xml" Id="Ref93728ee8bf42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c28e85aff944acf" /><Relationship Type="http://schemas.openxmlformats.org/officeDocument/2006/relationships/notesSlide" Target="/ppt/notesSlides/notesSlide5.xml" Id="R83817a3697fc40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c6d92ce253c4f51" /><Relationship Type="http://schemas.openxmlformats.org/officeDocument/2006/relationships/notesSlide" Target="/ppt/notesSlides/notesSlide6.xml" Id="R41527195a4264d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8b9c4edc5a41ec" /><Relationship Type="http://schemas.openxmlformats.org/officeDocument/2006/relationships/notesSlide" Target="/ppt/notesSlides/notesSlide7.xml" Id="R2dab577dcafd4c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d79fc7f5f5f4f8e" /><Relationship Type="http://schemas.openxmlformats.org/officeDocument/2006/relationships/notesSlide" Target="/ppt/notesSlides/notesSlide8.xml" Id="R02ab21da4edb49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19f26fb153d424d" /><Relationship Type="http://schemas.openxmlformats.org/officeDocument/2006/relationships/notesSlide" Target="/ppt/notesSlides/notesSlide9.xml" Id="R5b9d383db3f444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047dc534004ccf" /><Relationship Type="http://schemas.openxmlformats.org/officeDocument/2006/relationships/notesSlide" Target="/ppt/notesSlides/notesSlide10.xml" Id="R153c272bb9ac49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404374770934c18" /><Relationship Type="http://schemas.openxmlformats.org/officeDocument/2006/relationships/notesSlide" Target="/ppt/notesSlides/notesSlide11.xml" Id="R62c9bc39b72e44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e093da70cf749a5" /><Relationship Type="http://schemas.openxmlformats.org/officeDocument/2006/relationships/notesSlide" Target="/ppt/notesSlides/notesSlide12.xml" Id="R8daf683bd83140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0d187533eaf4939" /><Relationship Type="http://schemas.openxmlformats.org/officeDocument/2006/relationships/notesSlide" Target="/ppt/notesSlides/notesSlide13.xml" Id="R6cd67fc23ee74d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31cad2c844c44b0" /><Relationship Type="http://schemas.openxmlformats.org/officeDocument/2006/relationships/notesSlide" Target="/ppt/notesSlides/notesSlide14.xml" Id="Rcff8c5ba37c34d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26a292dc784986" /><Relationship Type="http://schemas.openxmlformats.org/officeDocument/2006/relationships/notesSlide" Target="/ppt/notesSlides/notesSlide15.xml" Id="R8417b764f21e45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6eab68f8a0f4cb0" /><Relationship Type="http://schemas.openxmlformats.org/officeDocument/2006/relationships/notesSlide" Target="/ppt/notesSlides/notesSlide16.xml" Id="R2700b717d6cf4f4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74abc9d4ec432c" /><Relationship Type="http://schemas.openxmlformats.org/officeDocument/2006/relationships/notesSlide" Target="/ppt/notesSlides/notesSlide17.xml" Id="R782b7033b7df4c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04b3581602543d9" /><Relationship Type="http://schemas.openxmlformats.org/officeDocument/2006/relationships/notesSlide" Target="/ppt/notesSlides/notesSlide18.xml" Id="R9ad2989da3a142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E2E1A22-69FF-132F-53DC-BDDD64B1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68" y="3810706"/>
            <a:ext cx="5698052" cy="1569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Haney H U  (4AD23CI015)</a:t>
            </a:r>
          </a:p>
          <a:p xmlns:a="http://schemas.openxmlformats.org/drawingml/2006/main">
            <a:pPr algn="ctr"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Manohar Gnanesh  (4AD23CI024)</a:t>
            </a:r>
          </a:p>
          <a:p xmlns:a="http://schemas.openxmlformats.org/drawingml/2006/main">
            <a:pPr algn="ctr"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U Akhila  (4AD23CI057)</a:t>
            </a:r>
          </a:p>
          <a:p xmlns:a="http://schemas.openxmlformats.org/drawingml/2006/main">
            <a:pPr algn="ctr"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Nisha H S  (4AD23CI063)</a:t>
            </a:r>
            <a:endParaRPr sz="24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 xmlns:a="http://schemas.openxmlformats.org/drawingml/2006/main">
              <a:ext uri="{FF2B5EF4-FFF2-40B4-BE49-F238E27FC236}">
                <a16:creationId xmlns:a16="http://schemas.microsoft.com/office/drawing/2014/main" id="{49B22AFD-8606-A927-3014-21518562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474" y="6594034"/>
            <a:ext cx="4212987" cy="12926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Dr. Anil Kumar C J </a:t>
            </a:r>
          </a:p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HOD &amp; Associate Professor </a:t>
            </a:r>
          </a:p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CSE-AIML</a:t>
            </a:r>
          </a:p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ATMECE, </a:t>
            </a:r>
            <a:r>
              <a:rPr b="1">
                <a:latin typeface="Times New Roman"/>
                <a:ea typeface="Times New Roman"/>
                <a:cs typeface="Times New Roman"/>
              </a:rPr>
              <a:t>Mysuru</a:t>
            </a:r>
            <a:endParaRPr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7C5F9E1-36D4-E147-5587-EEC3A25C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219" y="6640311"/>
            <a:ext cx="4953602" cy="12926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Dr. </a:t>
            </a:r>
            <a:r>
              <a:rPr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Halligudra</a:t>
            </a:r>
            <a:r>
              <a:rPr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Guddappa</a:t>
            </a:r>
            <a:r>
              <a:rPr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Assistant Professor</a:t>
            </a:r>
          </a:p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Dept. of Chemistry </a:t>
            </a:r>
          </a:p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ATMECE, Mysuru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0DC1D72-D3E6-2DFF-8CE4-B6D12F21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78639"/>
            <a:ext cx="12613051" cy="14465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rgbClr val="7030A0"/>
                </a:solidFill>
                <a:latin typeface="Sitka Small Semibold"/>
                <a:ea typeface="Sitka Small Semibold"/>
                <a:cs typeface="Sitka Small Semibold"/>
              </a:rPr>
              <a:t>“PxDDI: Edge-Aware Molecular Graph Learning for</a:t>
            </a:r>
          </a:p>
          <a:p xmlns:a="http://schemas.openxmlformats.org/drawingml/2006/main">
            <a:pPr algn="ctr">
              <a:buNone/>
            </a:pPr>
            <a:r>
              <a:rPr sz="4400" b="1">
                <a:solidFill>
                  <a:srgbClr val="7030A0"/>
                </a:solidFill>
                <a:latin typeface="Sitka Small Semibold"/>
                <a:ea typeface="Sitka Small Semibold"/>
                <a:cs typeface="Sitka Small Semibold"/>
              </a:rPr>
              <a:t>Drug–Drug Interaction Prediction”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149A728-7318-41E6-B1C1-036AD672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984" y="5808460"/>
            <a:ext cx="3171894" cy="4616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Under the guidance of 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F58EA68-6E8F-4CA3-BEEA-F6A22EB3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057" y="3284401"/>
            <a:ext cx="1879874" cy="4616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5838869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8BA98BAA-022B-4C5E-A178-B774FA22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385063"/>
            <a:ext cx="12599987" cy="63093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964"/>
              </a:lnSpc>
              <a:buNone/>
            </a:pPr>
            <a:r>
              <a:rPr sz="40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CONTENTS</a:t>
            </a:r>
            <a:endParaRPr sz="4000" b="1">
              <a:solidFill>
                <a:srgbClr val="7030A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66C437A0-894F-462B-9AF5-8270F04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814" y="2378933"/>
            <a:ext cx="4394199" cy="5550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342866" indent="-342866">
              <a:lnSpc>
                <a:spcPct val="150000"/>
              </a:lnSpc>
              <a:buAutoNum type="arabicPeriod"/>
            </a:pPr>
            <a:endParaRPr sz="2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contents-clean">
            <a:extLst xmlns:a="http://schemas.openxmlformats.org/drawingml/2006/main">
              <a:ext uri="{FF2B5EF4-FFF2-40B4-BE49-F238E27FC236}">
                <a16:creationId xmlns:a16="http://schemas.microsoft.com/office/drawing/2014/main" id="{1F6B0A01-CBA3-44BD-BB62-E1458F7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838200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1. Motivation and literature survey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2. Research gap and data integrity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3. Problem statement, scope and objectives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4. Proposed system and methodology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5. Technical stack, project status and next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6. References</a:t>
            </a:r>
          </a:p>
        </p:txBody>
      </p:sp>
    </p:spTree>
    <p:extLst>
      <p:ext uri="{BB962C8B-B14F-4D97-AF65-F5344CB8AC3E}">
        <p14:creationId xmlns:p14="http://schemas.microsoft.com/office/powerpoint/2010/main" val="4477296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638D3A-3221-2005-8C2D-633C5E3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15121"/>
            <a:ext cx="12599988" cy="60408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40000"/>
              <a:lumOff val="60000"/>
            </a:schemeClr>
          </a:solidFill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lvl1pPr algn="ctr">
              <a:lnSpc>
                <a:spcPts val="4964"/>
              </a:lnSpc>
              <a:buNone/>
              <a:defRPr sz="4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WHY DDI PREDICTION MATTERS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1273942-3DDE-4607-A5AE-56C43EB4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775" y="8172501"/>
            <a:ext cx="389260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Times"/>
                <a:ea typeface="Times"/>
                <a:cs typeface="Times"/>
              </a:rPr>
              <a:t/>
            </a:r>
          </a:p>
        </p:txBody>
      </p:sp>
      <p:sp>
        <p:nvSpPr>
          <p:cNvPr id="7" name="motivation-adverse-events">
            <a:extLst xmlns:a="http://schemas.openxmlformats.org/drawingml/2006/main">
              <a:ext uri="{FF2B5EF4-FFF2-40B4-BE49-F238E27FC236}">
                <a16:creationId xmlns:a16="http://schemas.microsoft.com/office/drawing/2014/main" id="{C99D4831-9DAC-490A-8EB0-D15A8E73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3048000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DE8E7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Adverse interaction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reports and side effects</a:t>
            </a:r>
          </a:p>
        </p:txBody>
      </p:sp>
      <p:sp>
        <p:nvSpPr>
          <p:cNvPr id="8" name="motivation-new-drugs">
            <a:extLst xmlns:a="http://schemas.openxmlformats.org/drawingml/2006/main">
              <a:ext uri="{FF2B5EF4-FFF2-40B4-BE49-F238E27FC236}">
                <a16:creationId xmlns:a16="http://schemas.microsoft.com/office/drawing/2014/main" id="{06BA6C97-23EF-486B-9865-A846645E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14625"/>
            <a:ext cx="3048000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New drugs and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unseen combinations</a:t>
            </a:r>
          </a:p>
        </p:txBody>
      </p:sp>
      <p:sp>
        <p:nvSpPr>
          <p:cNvPr id="9" name="motivation-research-aid">
            <a:extLst xmlns:a="http://schemas.openxmlformats.org/drawingml/2006/main">
              <a:ext uri="{FF2B5EF4-FFF2-40B4-BE49-F238E27FC236}">
                <a16:creationId xmlns:a16="http://schemas.microsoft.com/office/drawing/2014/main" id="{3BC0F365-0CD5-459E-8F68-340E8451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3048000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E3F2E7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Research support for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DDI prioritization</a:t>
            </a:r>
          </a:p>
        </p:txBody>
      </p:sp>
      <p:sp>
        <p:nvSpPr>
          <p:cNvPr id="10" name="motivation-arrow-1">
            <a:extLst xmlns:a="http://schemas.openxmlformats.org/drawingml/2006/main">
              <a:ext uri="{FF2B5EF4-FFF2-40B4-BE49-F238E27FC236}">
                <a16:creationId xmlns:a16="http://schemas.microsoft.com/office/drawing/2014/main" id="{C099D43F-1E49-4AF3-8B22-B8771EB0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86125"/>
            <a:ext cx="7143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11" name="motivation-arrow-2">
            <a:extLst xmlns:a="http://schemas.openxmlformats.org/drawingml/2006/main">
              <a:ext uri="{FF2B5EF4-FFF2-40B4-BE49-F238E27FC236}">
                <a16:creationId xmlns:a16="http://schemas.microsoft.com/office/drawing/2014/main" id="{D7BFB496-B3BB-42C6-9629-6EA949A3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7143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12" name="motivation-caption">
            <a:extLst xmlns:a="http://schemas.openxmlformats.org/drawingml/2006/main">
              <a:ext uri="{FF2B5EF4-FFF2-40B4-BE49-F238E27FC236}">
                <a16:creationId xmlns:a16="http://schemas.microsoft.com/office/drawing/2014/main" id="{4607F12C-3FA5-4D04-B58A-170657B8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E2F68"/>
                </a:solidFill>
              </a:defRPr>
            </a:pPr>
            <a:r>
              <a:rPr sz="1950" b="1">
                <a:solidFill>
                  <a:srgbClr val="3E2F68"/>
                </a:solidFill>
              </a:rPr>
              <a:t>PxDDI studies whether molecular structure can help rank reported-versus-unreported</a:t>
            </a:r>
          </a:p>
          <a:p xmlns:a="http://schemas.openxmlformats.org/drawingml/2006/main">
            <a:pPr>
              <a:defRPr sz="1950" b="1">
                <a:solidFill>
                  <a:srgbClr val="3E2F68"/>
                </a:solidFill>
              </a:defRPr>
            </a:pPr>
            <a:r>
              <a:rPr sz="1950" b="1">
                <a:solidFill>
                  <a:srgbClr val="3E2F68"/>
                </a:solidFill>
              </a:rPr>
              <a:t>DDI pairs. It is a research prototype, not a clinical prescribing or safety system.</a:t>
            </a:r>
          </a:p>
        </p:txBody>
      </p:sp>
    </p:spTree>
    <p:extLst>
      <p:ext uri="{BB962C8B-B14F-4D97-AF65-F5344CB8AC3E}">
        <p14:creationId xmlns:p14="http://schemas.microsoft.com/office/powerpoint/2010/main" val="8507893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EDCF626-F819-1770-AE9B-68C86327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95785" y="0"/>
            <a:ext cx="12539701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LITERATURE SURVEY I</a:t>
            </a:r>
            <a:endParaRPr sz="3200" b="1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7" name="Table 2"/>
          <p:cNvGraphicFramePr/>
          <p:nvPr/>
        </p:nvGraphicFramePr>
        <p:xfrm>
          <a:off xmlns:a="http://schemas.openxmlformats.org/drawingml/2006/main" x="123829" y="1343526"/>
          <a:ext xmlns:a="http://schemas.openxmlformats.org/drawingml/2006/main" cx="12352329" cy="7118985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592720"/>
                <a:gridCol w="1669019"/>
                <a:gridCol w="1687788"/>
                <a:gridCol w="2586793"/>
                <a:gridCol w="3194687"/>
                <a:gridCol w="2621322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Study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Approach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 contribution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Remaining limitation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Ref.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Tatonetti et al.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2012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TWOSIDES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report mining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A large resource for DDI / adverse-event signals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000" indent="-342900" algn="just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Reported pairs are not proven-safe negatives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[1]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Zitnik et al.</a:t>
                      </a:r>
                      <a:endParaRPr sz="1600" b="0" i="0" u="none" kern="1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2018</a:t>
                      </a:r>
                      <a:endParaRPr sz="1600" b="0" i="0" u="none" kern="1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410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Decagon</a:t>
                      </a:r>
                      <a:endParaRPr sz="1600" b="1" kern="1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GCN</a:t>
                      </a:r>
                      <a:endParaRPr sz="1600" b="1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Graph learning for polypharmacy side effects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Molecular unseen-drug generalization is not its focus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[2]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1016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082E2FF-0DEC-18C3-6424-53E2EA5D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4967" y="0"/>
            <a:ext cx="1259998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LITERATURE SURVEY II</a:t>
            </a:r>
            <a:endParaRPr sz="2800" b="1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7" name="Table 2"/>
          <p:cNvGraphicFramePr/>
          <p:nvPr/>
        </p:nvGraphicFramePr>
        <p:xfrm>
          <a:off xmlns:a="http://schemas.openxmlformats.org/drawingml/2006/main" x="123829" y="1288936"/>
          <a:ext xmlns:a="http://schemas.openxmlformats.org/drawingml/2006/main" cx="12352329" cy="7181626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592720"/>
                <a:gridCol w="1669019"/>
                <a:gridCol w="1687788"/>
                <a:gridCol w="2586793"/>
                <a:gridCol w="3099152"/>
                <a:gridCol w="2716857"/>
              </a:tblGrid>
              <a:tr h="5979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Study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Approach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 contribution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Remaining limitation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Ref.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39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Ryu et al.</a:t>
                      </a:r>
                      <a:endParaRPr sz="1600" b="0" i="0" u="none" kern="1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2018</a:t>
                      </a:r>
                      <a:endParaRPr sz="1600" b="0" i="0" u="none" kern="1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600" b="0" i="0" u="none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DeepDDI</a:t>
                      </a:r>
                    </a:p>
                    <a:p>
                      <a:pPr lvl="0" algn="ctr"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DNN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Drug-pair prediction with interpretable interaction labels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Does not solve structure-only cold-start evaluation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[3]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939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Zhou et al.</a:t>
                      </a:r>
                      <a:endParaRPr sz="1600" b="1" i="1" u="sng" kern="1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  <a:endParaRPr sz="1600" b="1" i="1" u="sng" kern="1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Motif graphs +</a:t>
                      </a:r>
                    </a:p>
                    <a:p>
                      <a:pPr lvl="0" algn="ctr"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attention</a:t>
                      </a:r>
                      <a:endParaRPr sz="16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Functional-group-aware representation for DDI learning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Cold-start and explanation claims still need strict auditing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[4]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7173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7" name="Table 2"/>
          <p:cNvGraphicFramePr/>
          <p:nvPr/>
        </p:nvGraphicFramePr>
        <p:xfrm>
          <a:off xmlns:a="http://schemas.openxmlformats.org/drawingml/2006/main" x="95226" y="1487123"/>
          <a:ext xmlns:a="http://schemas.openxmlformats.org/drawingml/2006/main" cx="12352329" cy="6206266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592720"/>
                <a:gridCol w="1935125"/>
                <a:gridCol w="1648047"/>
                <a:gridCol w="2668772"/>
                <a:gridCol w="2954582"/>
                <a:gridCol w="2553083"/>
              </a:tblGrid>
              <a:tr h="5979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 gap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Why it matters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PxDDI design response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Evidence required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Status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39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Cold-start DDI</a:t>
                      </a:r>
                      <a:endParaRPr sz="1600" b="0" i="0" u="none" kern="1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New drugs have few or no observed pair labels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Edge-aware molecular graphs + S1/S2 evaluation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Repeated-seed S1/S2 study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Pending run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939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Black-box scores</a:t>
                      </a:r>
                      <a:endParaRPr sz="1600" b="0" i="0" u="none" kern="1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score alone is hard to audit scientifically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Motif / occlusion audit, calibration and uncertainty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Fidelity and stability checks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Source ready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E73EADC-0EE2-D8EA-BBAA-C54C1B28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17" y="0"/>
            <a:ext cx="631208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RESEARCH GAP</a:t>
            </a:r>
            <a:endParaRPr sz="2800" b="1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49473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4" name="Table 2"/>
          <p:cNvGraphicFramePr/>
          <p:nvPr/>
        </p:nvGraphicFramePr>
        <p:xfrm>
          <a:off xmlns:a="http://schemas.openxmlformats.org/drawingml/2006/main" x="123829" y="1166104"/>
          <a:ext xmlns:a="http://schemas.openxmlformats.org/drawingml/2006/main" cx="12352329" cy="7425466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592720"/>
                <a:gridCol w="1935125"/>
                <a:gridCol w="1648047"/>
                <a:gridCol w="3070070"/>
                <a:gridCol w="2674961"/>
                <a:gridCol w="2431406"/>
              </a:tblGrid>
              <a:tr h="5979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issue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Why it can mislead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Safeguard in PxDDI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Evidence artifact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Status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39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Unreported negatives</a:t>
                      </a:r>
                      <a:endParaRPr sz="1600" b="0" i="0" u="none" kern="1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600" b="0" i="0" u="none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report does not mean the pair is safe</a:t>
                      </a:r>
                      <a:endParaRPr sz="1600" b="0" u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Label as unreported; avoid clinical safety claims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Manifest + metric warnings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Implemented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939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A–B / B–A duplicates</a:t>
                      </a:r>
                      <a:endParaRPr sz="16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 can leak across train and test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Canonical unordered-pair deduplication before splitting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Split CSVs + hashes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Implemented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19897FA-4229-4BFE-D23C-2D058CDF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17" y="0"/>
            <a:ext cx="631208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&amp; LABEL INTEGRITY</a:t>
            </a:r>
            <a:endParaRPr sz="2800" b="1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5633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4" name="Table 2"/>
          <p:cNvGraphicFramePr/>
          <p:nvPr/>
        </p:nvGraphicFramePr>
        <p:xfrm>
          <a:off xmlns:a="http://schemas.openxmlformats.org/drawingml/2006/main" x="123832" y="1357176"/>
          <a:ext xmlns:a="http://schemas.openxmlformats.org/drawingml/2006/main" cx="12352324" cy="6937786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592719"/>
                <a:gridCol w="1935124"/>
                <a:gridCol w="1648046"/>
                <a:gridCol w="2933592"/>
                <a:gridCol w="2866030"/>
                <a:gridCol w="2376813"/>
              </a:tblGrid>
              <a:tr h="5979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Toxicity signal audit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Decision rule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Reason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Status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39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FAERS ↔ SMILES bridge</a:t>
                      </a:r>
                      <a:endParaRPr sz="1200" b="0" i="0" u="none" kern="1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Canonicalize molecular structures before lookup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Bridge coverage audit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Avoid alias / non-canonical mismatch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Implemented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939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Conflicting mapped labels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Exclude conflicts conservatively; do not average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</a:rPr>
                        <a:t>Conflict-report CSV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Avoid arbitrary supervision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</a:rPr>
                        <a:t>Implemented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9BE3816-F060-736A-4360-9D52ED66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17" y="0"/>
            <a:ext cx="631208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TOXICITY SIGNAL AUDIT</a:t>
            </a:r>
            <a:endParaRPr sz="2800" b="1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33610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53BC2B-8864-095B-F23F-6931E169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428057"/>
            <a:ext cx="1259998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latin typeface="Times"/>
                <a:ea typeface="Times"/>
                <a:cs typeface="Times"/>
              </a:rPr>
              <a:t>PROBLEM STATEMENT</a:t>
            </a:r>
          </a:p>
        </p:txBody>
      </p:sp>
      <p:sp>
        <p:nvSpPr>
          <p:cNvPr id="4" name="problem-statement-clean">
            <a:extLst xmlns:a="http://schemas.openxmlformats.org/drawingml/2006/main">
              <a:ext uri="{FF2B5EF4-FFF2-40B4-BE49-F238E27FC236}">
                <a16:creationId xmlns:a16="http://schemas.microsoft.com/office/drawing/2014/main" id="{B1C9B968-C2D3-4DB9-A4F2-B8806785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10490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Current DDI datasets contain report-derived positives and sampled unreported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A credible model must:</a:t>
            </a:r>
          </a:p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• prevent A–B / B–A pair leakage;</a:t>
            </a:r>
          </a:p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• use chemically meaningful graph features; and</a:t>
            </a:r>
          </a:p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• test one-unseen-drug (S2) and both-unseen-drug (S1) generalization.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PxDDI therefore aims to be an auditable structure-based research pipeline—not a clinical safety or patient-risk tool.</a:t>
            </a:r>
          </a:p>
        </p:txBody>
      </p:sp>
    </p:spTree>
    <p:extLst>
      <p:ext uri="{BB962C8B-B14F-4D97-AF65-F5344CB8AC3E}">
        <p14:creationId xmlns:p14="http://schemas.microsoft.com/office/powerpoint/2010/main" val="19878349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C7B72ECD-0F7E-427D-89BB-80C8E607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2424"/>
            <a:ext cx="12599988" cy="459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600"/>
              </a:lnSpc>
              <a:buNone/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SCOPE &amp; SAFETY BOUNDARIES</a:t>
            </a:r>
            <a:endParaRPr sz="32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B7EECA-E893-9C9B-9438-2E5A0311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6132" y="8210823"/>
            <a:ext cx="630936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 i="1">
                <a:latin typeface="Times"/>
                <a:ea typeface="Times"/>
                <a:cs typeface="Times"/>
              </a:rPr>
              <a:t/>
            </a:r>
          </a:p>
        </p:txBody>
      </p:sp>
      <p:sp>
        <p:nvSpPr>
          <p:cNvPr id="5" name="scope-does">
            <a:extLst xmlns:a="http://schemas.openxmlformats.org/drawingml/2006/main">
              <a:ext uri="{FF2B5EF4-FFF2-40B4-BE49-F238E27FC236}">
                <a16:creationId xmlns:a16="http://schemas.microsoft.com/office/drawing/2014/main" id="{FC574258-6C30-4A7A-BA2F-52FA5467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4857750" cy="2714625"/>
          </a:xfrm>
          <a:prstGeom xmlns:a="http://schemas.openxmlformats.org/drawingml/2006/main" prst="roundRect">
            <a:avLst>
              <a:gd name="adj" fmla="val 4912"/>
            </a:avLst>
          </a:prstGeom>
          <a:solidFill xmlns:a="http://schemas.openxmlformats.org/drawingml/2006/main">
            <a:srgbClr val="E3F2E7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PxDDI does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 Encodes two drug SMILES as molecular graphs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 Scores the experimental reported / unreported DDI task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 Adds an auxiliary FAERS-derived toxicity signal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 Saves audits, uncertainty and provenance artifacts</a:t>
            </a:r>
          </a:p>
        </p:txBody>
      </p:sp>
      <p:sp>
        <p:nvSpPr>
          <p:cNvPr id="6" name="scope-does-not">
            <a:extLst xmlns:a="http://schemas.openxmlformats.org/drawingml/2006/main">
              <a:ext uri="{FF2B5EF4-FFF2-40B4-BE49-F238E27FC236}">
                <a16:creationId xmlns:a16="http://schemas.microsoft.com/office/drawing/2014/main" id="{4D0F470A-0729-4DF3-BECB-27C7A075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4857750" cy="2714625"/>
          </a:xfrm>
          <a:prstGeom xmlns:a="http://schemas.openxmlformats.org/drawingml/2006/main" prst="roundRect">
            <a:avLst>
              <a:gd name="adj" fmla="val 4912"/>
            </a:avLst>
          </a:prstGeom>
          <a:solidFill xmlns:a="http://schemas.openxmlformats.org/drawingml/2006/main">
            <a:srgbClr val="FDE8E7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PxDDI does not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 Patient-specific risk prediction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 Clinical decision support or prescribing advice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 That an unreported pair is safe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 External, temporal or prospective validation</a:t>
            </a:r>
          </a:p>
        </p:txBody>
      </p:sp>
      <p:sp>
        <p:nvSpPr>
          <p:cNvPr id="7" name="scope-note">
            <a:extLst xmlns:a="http://schemas.openxmlformats.org/drawingml/2006/main">
              <a:ext uri="{FF2B5EF4-FFF2-40B4-BE49-F238E27FC236}">
                <a16:creationId xmlns:a16="http://schemas.microsoft.com/office/drawing/2014/main" id="{30A493CB-091D-4DB4-9F3A-E04EF2A4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912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E2F68"/>
                </a:solidFill>
              </a:defRPr>
            </a:pPr>
            <a:r>
              <a:rPr sz="1800" b="1">
                <a:solidFill>
                  <a:srgbClr val="3E2F68"/>
                </a:solidFill>
              </a:rPr>
              <a:t>This scope keeps the presentation aligned with the current data, model evidence and research ethics.</a:t>
            </a:r>
          </a:p>
        </p:txBody>
      </p:sp>
    </p:spTree>
    <p:extLst>
      <p:ext uri="{BB962C8B-B14F-4D97-AF65-F5344CB8AC3E}">
        <p14:creationId xmlns:p14="http://schemas.microsoft.com/office/powerpoint/2010/main" val="20822291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0">
            <a:extLst xmlns:a="http://schemas.openxmlformats.org/drawingml/2006/main">
              <a:ext uri="{FF2B5EF4-FFF2-40B4-BE49-F238E27FC236}">
                <a16:creationId xmlns:a16="http://schemas.microsoft.com/office/drawing/2014/main" id="{CD2115DE-C9C4-4A22-9562-B374FD43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301542"/>
            <a:ext cx="12599987" cy="45948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600"/>
              </a:lnSpc>
              <a:buNone/>
            </a:pPr>
            <a:r>
              <a:rPr sz="3199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OBJECTIVES</a:t>
            </a:r>
            <a:endParaRPr sz="288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objectives-clean">
            <a:extLst xmlns:a="http://schemas.openxmlformats.org/drawingml/2006/main">
              <a:ext uri="{FF2B5EF4-FFF2-40B4-BE49-F238E27FC236}">
                <a16:creationId xmlns:a16="http://schemas.microsoft.com/office/drawing/2014/main" id="{0F48A77B-AB6E-4170-BD67-74DEB754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1095375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1. Build a reproducible structure-based DDI pipeline from TWOSIDES pairs and an auxiliary FAERS-derived toxicity bridge.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2. Encode drug SMILES as molecular graphs and preserve DDI pair symmetry.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3. Compare edge-aware, motif-aware and cross-drug-attention candidates with a symmetric ECFP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4. Evaluate Transductive, S1, S2 and scaffold-disjoint protocols.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5. Produce calibrated, uncertainty-aware artifacts and a safe research-only API.</a:t>
            </a:r>
          </a:p>
        </p:txBody>
      </p:sp>
    </p:spTree>
    <p:extLst>
      <p:ext uri="{BB962C8B-B14F-4D97-AF65-F5344CB8AC3E}">
        <p14:creationId xmlns:p14="http://schemas.microsoft.com/office/powerpoint/2010/main" val="7878634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 0">
            <a:extLst xmlns:a="http://schemas.openxmlformats.org/drawingml/2006/main">
              <a:ext uri="{FF2B5EF4-FFF2-40B4-BE49-F238E27FC236}">
                <a16:creationId xmlns:a16="http://schemas.microsoft.com/office/drawing/2014/main" id="{F66C5517-7CB5-42E6-8621-E849B587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366796"/>
            <a:ext cx="12599988" cy="6463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199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SYSTEM</a:t>
            </a:r>
            <a:endParaRPr sz="3199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3" name="architecture-input-a">
            <a:extLst xmlns:a="http://schemas.openxmlformats.org/drawingml/2006/main">
              <a:ext uri="{FF2B5EF4-FFF2-40B4-BE49-F238E27FC236}">
                <a16:creationId xmlns:a16="http://schemas.microsoft.com/office/drawing/2014/main" id="{8B43E53C-993E-448B-958D-1B88B683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809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Drug A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SMILES</a:t>
            </a:r>
          </a:p>
        </p:txBody>
      </p:sp>
      <p:sp>
        <p:nvSpPr>
          <p:cNvPr id="34" name="architecture-input-b">
            <a:extLst xmlns:a="http://schemas.openxmlformats.org/drawingml/2006/main">
              <a:ext uri="{FF2B5EF4-FFF2-40B4-BE49-F238E27FC236}">
                <a16:creationId xmlns:a16="http://schemas.microsoft.com/office/drawing/2014/main" id="{90926F5B-A57C-4064-8992-1077998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809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Drug B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SMILES</a:t>
            </a:r>
          </a:p>
        </p:txBody>
      </p:sp>
      <p:sp>
        <p:nvSpPr>
          <p:cNvPr id="35" name="architecture-graphs">
            <a:extLst xmlns:a="http://schemas.openxmlformats.org/drawingml/2006/main">
              <a:ext uri="{FF2B5EF4-FFF2-40B4-BE49-F238E27FC236}">
                <a16:creationId xmlns:a16="http://schemas.microsoft.com/office/drawing/2014/main" id="{7CACD009-9A1A-4AA5-BA11-1E1530A0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219075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Molecular graphs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44 atom features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14 bond features</a:t>
            </a:r>
          </a:p>
        </p:txBody>
      </p:sp>
      <p:sp>
        <p:nvSpPr>
          <p:cNvPr id="36" name="architecture-encoder">
            <a:extLst xmlns:a="http://schemas.openxmlformats.org/drawingml/2006/main">
              <a:ext uri="{FF2B5EF4-FFF2-40B4-BE49-F238E27FC236}">
                <a16:creationId xmlns:a16="http://schemas.microsoft.com/office/drawing/2014/main" id="{54EC7856-E3E9-4E19-B3C6-5A4EE9F1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19075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E9E3F5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Shared edge-aware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GAT encoder</a:t>
            </a:r>
          </a:p>
        </p:txBody>
      </p:sp>
      <p:sp>
        <p:nvSpPr>
          <p:cNvPr id="37" name="architecture-fusion">
            <a:extLst xmlns:a="http://schemas.openxmlformats.org/drawingml/2006/main">
              <a:ext uri="{FF2B5EF4-FFF2-40B4-BE49-F238E27FC236}">
                <a16:creationId xmlns:a16="http://schemas.microsoft.com/office/drawing/2014/main" id="{C4EDF9A1-2092-46D4-96AB-F8CF26D0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19075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E3F2E7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Symmetric fusion</a:t>
            </a:r>
          </a:p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sum + |difference|</a:t>
            </a:r>
          </a:p>
        </p:txBody>
      </p:sp>
      <p:sp>
        <p:nvSpPr>
          <p:cNvPr id="38" name="architecture-arrow-a">
            <a:extLst xmlns:a="http://schemas.openxmlformats.org/drawingml/2006/main">
              <a:ext uri="{FF2B5EF4-FFF2-40B4-BE49-F238E27FC236}">
                <a16:creationId xmlns:a16="http://schemas.microsoft.com/office/drawing/2014/main" id="{2F327E1D-E488-4B0C-9B47-79A7CC1F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647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39" name="architecture-arrow-b">
            <a:extLst xmlns:a="http://schemas.openxmlformats.org/drawingml/2006/main">
              <a:ext uri="{FF2B5EF4-FFF2-40B4-BE49-F238E27FC236}">
                <a16:creationId xmlns:a16="http://schemas.microsoft.com/office/drawing/2014/main" id="{19B2D1B7-0EEC-435B-ADB3-E7473F83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647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40" name="architecture-arrow-c">
            <a:extLst xmlns:a="http://schemas.openxmlformats.org/drawingml/2006/main">
              <a:ext uri="{FF2B5EF4-FFF2-40B4-BE49-F238E27FC236}">
                <a16:creationId xmlns:a16="http://schemas.microsoft.com/office/drawing/2014/main" id="{21F86A08-B970-40EE-972C-4C624088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52875"/>
            <a:ext cx="61912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41" name="architecture-arrow-d">
            <a:extLst xmlns:a="http://schemas.openxmlformats.org/drawingml/2006/main">
              <a:ext uri="{FF2B5EF4-FFF2-40B4-BE49-F238E27FC236}">
                <a16:creationId xmlns:a16="http://schemas.microsoft.com/office/drawing/2014/main" id="{2F70BE86-5E65-448C-9C75-293B696E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52875"/>
            <a:ext cx="61912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42" name="architecture-output">
            <a:extLst xmlns:a="http://schemas.openxmlformats.org/drawingml/2006/main">
              <a:ext uri="{FF2B5EF4-FFF2-40B4-BE49-F238E27FC236}">
                <a16:creationId xmlns:a16="http://schemas.microsoft.com/office/drawing/2014/main" id="{D340F956-C65A-4BF6-B610-7D060B98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096000"/>
            <a:ext cx="8524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E2F68"/>
                </a:solidFill>
              </a:defRPr>
            </a:pPr>
            <a:r>
              <a:rPr sz="1800" b="1">
                <a:solidFill>
                  <a:srgbClr val="3E2F68"/>
                </a:solidFill>
              </a:rPr>
              <a:t>Outputs: DDI score for the experimental label task + auxiliary toxicity output</a:t>
            </a:r>
          </a:p>
          <a:p xmlns:a="http://schemas.openxmlformats.org/drawingml/2006/main">
            <a:pPr>
              <a:defRPr sz="1800" b="1">
                <a:solidFill>
                  <a:srgbClr val="3E2F68"/>
                </a:solidFill>
              </a:defRPr>
            </a:pPr>
            <a:r>
              <a:rPr sz="1800" b="1">
                <a:solidFill>
                  <a:srgbClr val="3E2F68"/>
                </a:solidFill>
              </a:rPr>
              <a:t>with calibration, conformal uncertainty and structural-domain audit.</a:t>
            </a:r>
          </a:p>
        </p:txBody>
      </p:sp>
    </p:spTree>
    <p:extLst>
      <p:ext uri="{BB962C8B-B14F-4D97-AF65-F5344CB8AC3E}">
        <p14:creationId xmlns:p14="http://schemas.microsoft.com/office/powerpoint/2010/main" val="29816384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B1809E62-38D0-68DA-82E7-AC3E4849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1782"/>
            <a:ext cx="12599988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60000"/>
              <a:lumOff val="40000"/>
            </a:schemeClr>
          </a:solidFill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None/>
            </a:pPr>
            <a:r>
              <a:rPr sz="3200" b="1">
                <a:latin typeface="Times New Roman"/>
                <a:ea typeface="Times New Roman"/>
                <a:cs typeface="Times New Roman"/>
              </a:rPr>
              <a:t>TECHNICAL STACK</a:t>
            </a:r>
          </a:p>
        </p:txBody>
      </p:sp>
      <p:graphicFrame>
        <p:nvGraphicFramePr>
          <p:cNvPr id="7" name="Table 1"/>
          <p:cNvGraphicFramePr/>
          <p:nvPr/>
        </p:nvGraphicFramePr>
        <p:xfrm>
          <a:off xmlns:a="http://schemas.openxmlformats.org/drawingml/2006/main" x="576828" y="1985963"/>
          <a:ext xmlns:a="http://schemas.openxmlformats.org/drawingml/2006/main" cx="11446329" cy="643543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5443"/>
                <a:gridCol w="3815443"/>
                <a:gridCol w="3815443"/>
              </a:tblGrid>
              <a:tr h="355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Category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Tool / environment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684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DDI pairs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TWOSIDES + audited sampled-unreported negatives</a:t>
                      </a: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5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Toxicity signal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FAERS canonical-SMILES bridge</a:t>
                      </a: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818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Cheminformatics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Molecular graph building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RDKit</a:t>
                      </a: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84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Deep learning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Graph encoder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PyTorch + PyTorch Geometric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818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Candidate models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Legacy GAT, edge-aware, motif, cross-attention</a:t>
                      </a: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84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Training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Reproducible experiments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Google Colab GPU + Drive artifacts</a:t>
                      </a: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84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Backend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 API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FastAPI + Uvicorn</a:t>
                      </a: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5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Containers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serving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Docker Compose</a:t>
                      </a: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84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Evaluation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Metrics and plots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scikit-learn + Matplotlib</a:t>
                      </a: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5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Deployment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state</a:t>
                      </a:r>
                      <a:endParaRPr sz="18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Windows + Python 3.10; Docker verified locally; public deployment later</a:t>
                      </a:r>
                    </a:p>
                  </a:txBody>
                  <a:tcPr marL="53126" marR="53126" marT="70834" marB="7083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15462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F2549686-3C80-4A9C-B3F9-458D2DF3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7750"/>
            <a:ext cx="12599988" cy="5904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40000"/>
              <a:lumOff val="60000"/>
            </a:schemeClr>
          </a:solidFill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600"/>
              </a:lnSpc>
              <a:buNone/>
            </a:pPr>
            <a:r>
              <a:rPr sz="3199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METHODOLOGY &amp; EVALUATION FLOW</a:t>
            </a:r>
            <a:endParaRPr sz="288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5E59180-022F-4797-96AA-9A40A163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37" y="2165666"/>
            <a:ext cx="6862378" cy="60386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457200" indent="-457200" algn="just">
              <a:lnSpc>
                <a:spcPct val="150000"/>
              </a:lnSpc>
              <a:buAutoNum type="arabicPeriod"/>
            </a:pPr>
            <a:r>
              <a:rPr sz="2000" b="1">
                <a:latin typeface="Times New Roman"/>
                <a:ea typeface="Times New Roman"/>
                <a:cs typeface="Times New Roman"/>
              </a:rPr>
              <a:t/>
            </a:r>
            <a:endParaRPr sz="12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D2E84EA8-67E1-444C-AE4B-B9C4DA10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952625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TWOSIDES +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FAERS bridge</a:t>
            </a:r>
          </a:p>
        </p:txBody>
      </p:sp>
      <p:sp>
        <p:nvSpPr>
          <p:cNvPr id="13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367955FA-B509-4E6F-826E-B82E2645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81375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14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C119A0BE-B934-464D-BCA0-BA799414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1952625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Canonicalize, audit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and deduplicate</a:t>
            </a:r>
          </a:p>
        </p:txBody>
      </p:sp>
      <p:sp>
        <p:nvSpPr>
          <p:cNvPr id="15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C455D5B3-7E38-4C21-B956-ED4322BA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381375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16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396D9F3B-0DCE-4CEF-91B3-362D678A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1952625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E9E3F5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Build graphs +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fixed splits</a:t>
            </a:r>
          </a:p>
        </p:txBody>
      </p:sp>
      <p:sp>
        <p:nvSpPr>
          <p:cNvPr id="17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7AE897D8-5834-49BF-92D7-824E6AB7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381375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18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CCB5135D-90EF-4C64-B356-4262A3CA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52750"/>
            <a:ext cx="1952625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E3F2E7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Train candidates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in Colab</a:t>
            </a:r>
          </a:p>
        </p:txBody>
      </p:sp>
      <p:sp>
        <p:nvSpPr>
          <p:cNvPr id="19" name="workflow-arrow-4">
            <a:extLst xmlns:a="http://schemas.openxmlformats.org/drawingml/2006/main">
              <a:ext uri="{FF2B5EF4-FFF2-40B4-BE49-F238E27FC236}">
                <a16:creationId xmlns:a16="http://schemas.microsoft.com/office/drawing/2014/main" id="{E7B729AB-B0D6-4227-AEBC-BCDD3AB2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381375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20" name="workflow-step-5">
            <a:extLst xmlns:a="http://schemas.openxmlformats.org/drawingml/2006/main">
              <a:ext uri="{FF2B5EF4-FFF2-40B4-BE49-F238E27FC236}">
                <a16:creationId xmlns:a16="http://schemas.microsoft.com/office/drawing/2014/main" id="{FF5FF289-E5F4-4CA0-A6B0-304A2EE9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52750"/>
            <a:ext cx="1952625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DE8E7"/>
          </a:solidFill>
          <a:ln xmlns:a="http://schemas.openxmlformats.org/drawingml/2006/main" w="11906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Evaluate T / S1 / S2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and save artifacts</a:t>
            </a:r>
          </a:p>
        </p:txBody>
      </p:sp>
      <p:sp>
        <p:nvSpPr>
          <p:cNvPr id="21" name="workflow-caption">
            <a:extLst xmlns:a="http://schemas.openxmlformats.org/drawingml/2006/main">
              <a:ext uri="{FF2B5EF4-FFF2-40B4-BE49-F238E27FC236}">
                <a16:creationId xmlns:a16="http://schemas.microsoft.com/office/drawing/2014/main" id="{597FD1F4-696A-4EAD-8CC8-2B000A6D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E2F68"/>
                </a:solidFill>
              </a:defRPr>
            </a:pPr>
            <a:r>
              <a:rPr sz="1650" b="1">
                <a:solidFill>
                  <a:srgbClr val="3E2F68"/>
                </a:solidFill>
              </a:rPr>
              <a:t>Model selection uses a dedicated validation partition. Calibration, decision threshold and conformal uncertainty are fitted on separately reserved post-hoc validation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3E2F68"/>
                </a:solidFill>
              </a:defRPr>
            </a:pPr>
            <a:r>
              <a:rPr sz="1650" b="1">
                <a:solidFill>
                  <a:srgbClr val="3E2F68"/>
                </a:solidFill>
              </a:rPr>
              <a:t>Final results will be added only after the corrected Colab runs complete.</a:t>
            </a:r>
          </a:p>
        </p:txBody>
      </p:sp>
    </p:spTree>
    <p:extLst>
      <p:ext uri="{BB962C8B-B14F-4D97-AF65-F5344CB8AC3E}">
        <p14:creationId xmlns:p14="http://schemas.microsoft.com/office/powerpoint/2010/main" val="105682713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678C380-34BD-2DD9-BB03-50FC2603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37" y="2619895"/>
            <a:ext cx="11038114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 sz="2000">
                <a:latin typeface="Times New Roman"/>
                <a:ea typeface="Times New Roman"/>
                <a:cs typeface="Times New Roman"/>
              </a:rPr>
              <a:t>SOURCE-CODE WORK COMPLETED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 sz="2000">
                <a:latin typeface="Times New Roman"/>
                <a:ea typeface="Times New Roman"/>
                <a:cs typeface="Times New Roman"/>
              </a:rPr>
              <a:t/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 sz="2000">
                <a:latin typeface="Times New Roman"/>
                <a:ea typeface="Times New Roman"/>
                <a:cs typeface="Times New Roman"/>
              </a:rPr>
              <a:t>Data-quality audits, pair deduplication, richer graph features, candidate model paths, calibration / uncertainty support, evaluation artifacts, FastAPI backend, Docker verification, and automated regression tests are in place.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1A1775-953E-446F-36CE-A06019DB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2336"/>
            <a:ext cx="12599988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40000"/>
              <a:lumOff val="60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CURRENT PROJECT STATUS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120363-E3B6-9153-CC58-FD9B23CF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37" y="6286412"/>
            <a:ext cx="11038114" cy="1427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 sz="2000">
                <a:latin typeface="Times New Roman"/>
                <a:ea typeface="Times New Roman"/>
                <a:cs typeface="Times New Roman"/>
              </a:rPr>
              <a:t>Run corrected candidates across 3–5 seeds; compare fair baselines and ablations; review Transductive, S1, S2 and scaffold-disjoint evidence; then add verified plots, metrics and model-selection conclusions.</a:t>
            </a: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821FFFF-194F-EA36-175C-8EFB5434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71546"/>
            <a:ext cx="12599988" cy="5847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Times New Roman"/>
                <a:ea typeface="Times New Roman"/>
                <a:cs typeface="Times New Roman"/>
              </a:rPr>
              <a:t>NEXT: COLAB EXPERIMENTS &amp; RESULTS</a:t>
            </a:r>
          </a:p>
        </p:txBody>
      </p:sp>
    </p:spTree>
    <p:extLst>
      <p:ext uri="{BB962C8B-B14F-4D97-AF65-F5344CB8AC3E}">
        <p14:creationId xmlns:p14="http://schemas.microsoft.com/office/powerpoint/2010/main" val="146401209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D83AA9-8C28-B23F-B4AF-06A26BA1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7165"/>
            <a:ext cx="12599988" cy="5232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60000"/>
              <a:lumOff val="40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4" name="references-clean">
            <a:extLst xmlns:a="http://schemas.openxmlformats.org/drawingml/2006/main">
              <a:ext uri="{FF2B5EF4-FFF2-40B4-BE49-F238E27FC236}">
                <a16:creationId xmlns:a16="http://schemas.microsoft.com/office/drawing/2014/main" id="{09409A1C-D9A0-4BD1-8F9C-B9881B0F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14300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1. Tatonetti, N. P., et al. (2012). Data-driven prediction of drug effects and interactions. Science Translational Medicine, 4(125), 125ra31. https://doi.org/10.1126/scitranslmed.3003377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2. Zitnik, M., Agrawal, M., &amp; Leskovec, J. (2018). Modeling polypharmacy side effects with graph convolutional networks. Bioinformatics, 34(13), i457–i466. https://doi.org/10.1093/bioinformatics/bty294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3. Ryu, J. Y., et al. (2018). Deep learning improves prediction of drug–drug and drug–food interactions. PNAS, 115(18), E4304–E4311. https://doi.org/10.1073/pnas.1803294115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4. Zhou, Y., et al. (2024). Learning motif-based graphs for DDI prediction via local–global self-attention. Nature Machine Intelligence, 6, 888–902. https://doi.org/10.1038/s42256-024-00888-6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5. Chen, Y., et al. (2024). DrugDAGT: a dual-attention graph transformer with contrastive learning improves DDI prediction. BMC Biology, 22, 233. https://doi.org/10.1186/s12915-024-02030-9</a:t>
            </a:r>
          </a:p>
        </p:txBody>
      </p:sp>
    </p:spTree>
    <p:extLst>
      <p:ext uri="{BB962C8B-B14F-4D97-AF65-F5344CB8AC3E}">
        <p14:creationId xmlns:p14="http://schemas.microsoft.com/office/powerpoint/2010/main" val="15366429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CAC63EE-3FBD-CA89-C28B-3C9E1149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9524"/>
            <a:ext cx="12599987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3600" b="1" i="0" u="none" cap="none">
                <a:ln>
                  <a:noFill/>
                </a:ln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ACKNOWLEDGEMENT</a:t>
            </a:r>
          </a:p>
        </p:txBody>
      </p:sp>
      <p:sp>
        <p:nvSpPr>
          <p:cNvPr id="7" name="acknowledgement-clean">
            <a:extLst xmlns:a="http://schemas.openxmlformats.org/drawingml/2006/main">
              <a:ext uri="{FF2B5EF4-FFF2-40B4-BE49-F238E27FC236}">
                <a16:creationId xmlns:a16="http://schemas.microsoft.com/office/drawing/2014/main" id="{D4141814-7DF6-4C33-BD99-56B44279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1239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We thank our Research Supervisor Dr. Anil Kumar C J, HOD &amp; Associate Professor, Department of CSE-AIML, for his guidance and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We also thank Dr. Halligudra Guddappa, Assistant Professor, Department of Chemistry, for domain guidance during the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We thank the Principal, Management, and teaching and non-teaching staff of ATMECE, Mysuru, for the facilities and support provided for this major project.</a:t>
            </a:r>
          </a:p>
        </p:txBody>
      </p:sp>
    </p:spTree>
    <p:extLst>
      <p:ext uri="{BB962C8B-B14F-4D97-AF65-F5344CB8AC3E}">
        <p14:creationId xmlns:p14="http://schemas.microsoft.com/office/powerpoint/2010/main" val="113225889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DC6DAD9-58D8-4597-9621-E2DF83CC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947" y="4199351"/>
            <a:ext cx="9950958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964"/>
              </a:lnSpc>
              <a:buNone/>
            </a:pPr>
            <a:r>
              <a:rPr sz="3967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  <a:endParaRPr sz="3967" b="1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80331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2026-08-23T14:34:01.2620000Z</dcterms:created>
  <dcterms:modified xsi:type="dcterms:W3CDTF">2026-08-23T14:34:01.2620000Z</dcterms:modified>
</coreProperties>
</file>