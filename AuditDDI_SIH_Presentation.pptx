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072865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005840"/>
            <a:ext cx="3840480" cy="365760"/>
          </a:xfrm>
          <a:prstGeom prst="roundRect">
            <a:avLst/>
          </a:prstGeom>
          <a:solidFill>
            <a:srgbClr val="0F2D52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D4FF"/>
                </a:solidFill>
              </a:defRPr>
            </a:pPr>
            <a:r>
              <a:t>SMART INDIA HACKATHON  |  INNOVATION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107899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AuditDDI: Auditable Multimodal Graph AI</a:t>
            </a:r>
          </a:p>
          <a:p>
            <a:pPr>
              <a:defRPr sz="1600">
                <a:solidFill>
                  <a:srgbClr val="00D4FF"/>
                </a:solidFill>
              </a:defRPr>
            </a:pPr>
            <a:r>
              <a:t>Next-Generation Cold-Start Drug-Drug Interaction Prediction via Molecular GNNs &amp; Evolutionary Protein Modeling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566160"/>
            <a:ext cx="10728655" cy="594360"/>
          </a:xfrm>
          <a:prstGeom prst="roundRect">
            <a:avLst/>
          </a:prstGeom>
          <a:solidFill>
            <a:srgbClr val="162447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Theme: MedTech / BioTech / HealthTech  |  Focus Area: Polypharmacy Safety &amp; Preclinical Pharmacology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389120"/>
            <a:ext cx="2514600" cy="1828800"/>
          </a:xfrm>
          <a:prstGeom prst="roundRect">
            <a:avLst/>
          </a:prstGeom>
          <a:solidFill>
            <a:srgbClr val="162447"/>
          </a:solidFill>
          <a:ln w="15240">
            <a:solidFill>
              <a:srgbClr val="26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480559"/>
            <a:ext cx="2240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D4FF"/>
                </a:solidFill>
              </a:defRPr>
            </a:pPr>
            <a:r>
              <a:t>Team Details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89204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D7E2F5"/>
                </a:solidFill>
              </a:defRPr>
            </a:pPr>
            <a:r>
              <a:t>Team Name: [Your Team Name]</a:t>
            </a:r>
          </a:p>
          <a:p>
            <a:pPr>
              <a:defRPr sz="1000">
                <a:solidFill>
                  <a:srgbClr val="D7E2F5"/>
                </a:solidFill>
              </a:defRPr>
            </a:pPr>
            <a:r>
              <a:t>Leader: [Team Leader Name]</a:t>
            </a:r>
          </a:p>
          <a:p>
            <a:pPr>
              <a:defRPr sz="1000">
                <a:solidFill>
                  <a:srgbClr val="D7E2F5"/>
                </a:solidFill>
              </a:defRPr>
            </a:pPr>
            <a:r>
              <a:t>Members: [Member 1, 2, 3, 4, 5]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4389120"/>
            <a:ext cx="2514600" cy="1828800"/>
          </a:xfrm>
          <a:prstGeom prst="roundRect">
            <a:avLst/>
          </a:prstGeom>
          <a:solidFill>
            <a:srgbClr val="162447"/>
          </a:solidFill>
          <a:ln w="15240">
            <a:solidFill>
              <a:srgbClr val="26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79" y="4480559"/>
            <a:ext cx="2240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D4FF"/>
                </a:solidFill>
              </a:defRPr>
            </a:pPr>
            <a:r>
              <a:t>Institution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4448" y="489204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D7E2F5"/>
                </a:solidFill>
              </a:defRPr>
            </a:pPr>
            <a:r>
              <a:t>Institute: [Your College Name]</a:t>
            </a:r>
          </a:p>
          <a:p>
            <a:pPr>
              <a:defRPr sz="1000">
                <a:solidFill>
                  <a:srgbClr val="D7E2F5"/>
                </a:solidFill>
              </a:defRPr>
            </a:pPr>
            <a:r>
              <a:t>Department: [CSE / AI / BioTech]</a:t>
            </a:r>
          </a:p>
          <a:p>
            <a:pPr>
              <a:defRPr sz="1000">
                <a:solidFill>
                  <a:srgbClr val="D7E2F5"/>
                </a:solidFill>
              </a:defRPr>
            </a:pPr>
            <a:r>
              <a:t>City / State: [Your City]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389120"/>
            <a:ext cx="2514600" cy="1828800"/>
          </a:xfrm>
          <a:prstGeom prst="roundRect">
            <a:avLst/>
          </a:prstGeom>
          <a:solidFill>
            <a:srgbClr val="162447"/>
          </a:solidFill>
          <a:ln w="15240">
            <a:solidFill>
              <a:srgbClr val="26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4480559"/>
            <a:ext cx="2240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D4FF"/>
                </a:solidFill>
              </a:defRPr>
            </a:pPr>
            <a:r>
              <a:t>Mentor / Guide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489204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D7E2F5"/>
                </a:solidFill>
              </a:defRPr>
            </a:pPr>
            <a:r>
              <a:t>Faculty Guide: [Guide Name]</a:t>
            </a:r>
          </a:p>
          <a:p>
            <a:pPr>
              <a:defRPr sz="1000">
                <a:solidFill>
                  <a:srgbClr val="D7E2F5"/>
                </a:solidFill>
              </a:defRPr>
            </a:pPr>
            <a:r>
              <a:t>Designation: [Professor / HoD]</a:t>
            </a:r>
          </a:p>
          <a:p>
            <a:pPr>
              <a:defRPr sz="1000">
                <a:solidFill>
                  <a:srgbClr val="D7E2F5"/>
                </a:solidFill>
              </a:defRPr>
            </a:pPr>
            <a:r>
              <a:t>Domain: HealthTech / 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4389120"/>
            <a:ext cx="2514600" cy="1828800"/>
          </a:xfrm>
          <a:prstGeom prst="roundRect">
            <a:avLst/>
          </a:prstGeom>
          <a:solidFill>
            <a:srgbClr val="162447"/>
          </a:solidFill>
          <a:ln w="15240">
            <a:solidFill>
              <a:srgbClr val="26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98280" y="4480559"/>
            <a:ext cx="2240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D4FF"/>
                </a:solidFill>
              </a:defRPr>
            </a:pPr>
            <a:r>
              <a:t>Submission Category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70848" y="489204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D7E2F5"/>
                </a:solidFill>
              </a:defRPr>
            </a:pPr>
            <a:r>
              <a:t>Category: Student Innovation</a:t>
            </a:r>
          </a:p>
          <a:p>
            <a:pPr>
              <a:defRPr sz="1000">
                <a:solidFill>
                  <a:srgbClr val="D7E2F5"/>
                </a:solidFill>
              </a:defRPr>
            </a:pPr>
            <a:r>
              <a:t>Mode: Software / AI Pipeline</a:t>
            </a:r>
          </a:p>
          <a:p>
            <a:pPr>
              <a:defRPr sz="1000">
                <a:solidFill>
                  <a:srgbClr val="D7E2F5"/>
                </a:solidFill>
              </a:defRPr>
            </a:pPr>
            <a:r>
              <a:t>Target: Hospital &amp; Pharma R&amp;D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02920"/>
            <a:ext cx="2926080" cy="320040"/>
          </a:xfrm>
          <a:prstGeom prst="roundRect">
            <a:avLst/>
          </a:prstGeom>
          <a:solidFill>
            <a:srgbClr val="0F2D52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0D4FF"/>
                </a:solidFill>
              </a:defRPr>
            </a:pPr>
            <a:r>
              <a:t>SIH 2024-25  | 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5029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8CA0BE"/>
                </a:solidFill>
              </a:defRPr>
            </a:pPr>
            <a:r>
              <a:t>02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686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Polypharmacy Crisis &amp; The 'Cold-Start' Blindspot</a:t>
            </a:r>
          </a:p>
          <a:p>
            <a:pPr>
              <a:defRPr sz="1150">
                <a:solidFill>
                  <a:srgbClr val="8CA0BE"/>
                </a:solidFill>
              </a:defRPr>
            </a:pPr>
            <a:r>
              <a:t>Adverse Drug-Drug Interactions (DDIs) cause &gt;10% of hospitalizations worldwide, yet current tools fail on novel molecules.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429000" cy="3657600"/>
          </a:xfrm>
          <a:prstGeom prst="roundRect">
            <a:avLst/>
          </a:prstGeom>
          <a:solidFill>
            <a:srgbClr val="162447"/>
          </a:solidFill>
          <a:ln w="15240">
            <a:solidFill>
              <a:srgbClr val="26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3154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6B6B"/>
                </a:solidFill>
              </a:defRPr>
            </a:pPr>
            <a:r>
              <a:t>1. The Polypharmacy &amp; ADE Threat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94560"/>
            <a:ext cx="31546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D7E2F5"/>
                </a:solidFill>
              </a:defRPr>
            </a:pPr>
            <a:r>
              <a:t>- Patients with co-morbidities (Diabetes + Hypertension + Oncology) take 5 to 10+ medications simultaneously.</a:t>
            </a:r>
          </a:p>
          <a:p>
            <a:pPr>
              <a:spcAft>
                <a:spcPts val="800"/>
              </a:spcAft>
              <a:defRPr sz="1150">
                <a:solidFill>
                  <a:srgbClr val="D7E2F5"/>
                </a:solidFill>
              </a:defRPr>
            </a:pPr>
            <a:r>
              <a:t>- Adverse Drug Events (ADEs) cause 1.3M+ ER visits/year and &gt;$30B in preventable healthcare costs.</a:t>
            </a:r>
          </a:p>
          <a:p>
            <a:pPr>
              <a:spcAft>
                <a:spcPts val="800"/>
              </a:spcAft>
              <a:defRPr sz="1150">
                <a:solidFill>
                  <a:srgbClr val="D7E2F5"/>
                </a:solidFill>
              </a:defRPr>
            </a:pPr>
            <a:r>
              <a:t>- In India, multi-specialist prescriptions often lead to unmonitored dangerous drug clashes.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429000" cy="3657600"/>
          </a:xfrm>
          <a:prstGeom prst="roundRect">
            <a:avLst/>
          </a:prstGeom>
          <a:solidFill>
            <a:srgbClr val="162447"/>
          </a:solidFill>
          <a:ln w="15240">
            <a:solidFill>
              <a:srgbClr val="26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737360"/>
            <a:ext cx="3154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C107"/>
                </a:solidFill>
              </a:defRPr>
            </a:pPr>
            <a:r>
              <a:t>2. The 'Cold-Start' Failure of Lookup DBs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194560"/>
            <a:ext cx="31546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D7E2F5"/>
                </a:solidFill>
              </a:defRPr>
            </a:pPr>
            <a:r>
              <a:t>- Clinical tools (Medscape, DrugBank, 1mg) rely on published historical databases.</a:t>
            </a:r>
          </a:p>
          <a:p>
            <a:pPr>
              <a:spcAft>
                <a:spcPts val="800"/>
              </a:spcAft>
              <a:defRPr sz="1150">
                <a:solidFill>
                  <a:srgbClr val="D7E2F5"/>
                </a:solidFill>
              </a:defRPr>
            </a:pPr>
            <a:r>
              <a:t>- Zero Interaction Data: When a new drug is approved or an unstudied combination is tried, lookup databases return 'No interaction found' — giving false security.</a:t>
            </a:r>
          </a:p>
          <a:p>
            <a:pPr>
              <a:spcAft>
                <a:spcPts val="800"/>
              </a:spcAft>
              <a:defRPr sz="1150">
                <a:solidFill>
                  <a:srgbClr val="D7E2F5"/>
                </a:solidFill>
              </a:defRPr>
            </a:pPr>
            <a:r>
              <a:t>- Cannot predict interactions for newly synthesized or repurposed drug candidates.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45920"/>
            <a:ext cx="3429000" cy="3657600"/>
          </a:xfrm>
          <a:prstGeom prst="roundRect">
            <a:avLst/>
          </a:prstGeom>
          <a:solidFill>
            <a:srgbClr val="162447"/>
          </a:solidFill>
          <a:ln w="15240">
            <a:solidFill>
              <a:srgbClr val="26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80" y="1737360"/>
            <a:ext cx="3154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D4FF"/>
                </a:solidFill>
              </a:defRPr>
            </a:pPr>
            <a:r>
              <a:t>3. The Black-Box &amp; Leakage Trap in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2194560"/>
            <a:ext cx="31546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D7E2F5"/>
                </a:solidFill>
              </a:defRPr>
            </a:pPr>
            <a:r>
              <a:t>- Existing research AI models (standard GNNs) suffer from severe data leakage (inflating metrics up to 99% in labs, then failing in clinics).</a:t>
            </a:r>
          </a:p>
          <a:p>
            <a:pPr>
              <a:spcAft>
                <a:spcPts val="800"/>
              </a:spcAft>
              <a:defRPr sz="1150">
                <a:solidFill>
                  <a:srgbClr val="D7E2F5"/>
                </a:solidFill>
              </a:defRPr>
            </a:pPr>
            <a:r>
              <a:t>- Lack of Explainability: Clinicians cannot trust black-box risk scores without biological evidence or structural reasoning.</a:t>
            </a:r>
          </a:p>
          <a:p>
            <a:pPr>
              <a:spcAft>
                <a:spcPts val="800"/>
              </a:spcAft>
              <a:defRPr sz="1150">
                <a:solidFill>
                  <a:srgbClr val="D7E2F5"/>
                </a:solidFill>
              </a:defRPr>
            </a:pPr>
            <a:r>
              <a:t>- Uncalibrated Risk: Models output overconfident probabilities without uncertainty bounds.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486400"/>
            <a:ext cx="10728655" cy="822960"/>
          </a:xfrm>
          <a:prstGeom prst="roundRect">
            <a:avLst/>
          </a:prstGeom>
          <a:solidFill>
            <a:srgbClr val="0F2D52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577840"/>
            <a:ext cx="103628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THE CORE CLINICAL NEED: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An auditable, multimodal system that predicts interaction risks for NOVEL (unseen) drugs, grounds predictions in multi-omics biology, and abstains when uncertain.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02920"/>
            <a:ext cx="2926080" cy="320040"/>
          </a:xfrm>
          <a:prstGeom prst="roundRect">
            <a:avLst/>
          </a:prstGeom>
          <a:solidFill>
            <a:srgbClr val="0F2D52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0D4FF"/>
                </a:solidFill>
              </a:defRPr>
            </a:pPr>
            <a:r>
              <a:t>SIH 2024-25  |  PROPOSED INNOVATION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5029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8CA0BE"/>
                </a:solidFill>
              </a:defRPr>
            </a:pPr>
            <a:r>
              <a:t>03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686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AuditDDI: Multimodal Graph AI &amp; Evolutionary Protein Modeling</a:t>
            </a:r>
          </a:p>
          <a:p>
            <a:pPr>
              <a:defRPr sz="1150">
                <a:solidFill>
                  <a:srgbClr val="8CA0BE"/>
                </a:solidFill>
              </a:defRPr>
            </a:pPr>
            <a:r>
              <a:t>A breakthrough architecture combining 2D/3D chemical topology with protein sequence language models and auditable memory.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57800" cy="2148840"/>
          </a:xfrm>
          <a:prstGeom prst="roundRect">
            <a:avLst/>
          </a:prstGeom>
          <a:solidFill>
            <a:srgbClr val="162447"/>
          </a:solidFill>
          <a:ln w="15240">
            <a:solidFill>
              <a:srgbClr val="26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4983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D4FF"/>
                </a:solidFill>
              </a:defRPr>
            </a:pPr>
            <a:r>
              <a:t>Dual-Stream Molecular GNN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57400"/>
            <a:ext cx="4983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D7E2F5"/>
                </a:solidFill>
              </a:defRPr>
            </a:pPr>
            <a:r>
              <a:t>- Edge-Aware GATv2: Encodes chemical topology, bond types, hybridization, and stereochemistry.</a:t>
            </a:r>
          </a:p>
          <a:p>
            <a:pPr>
              <a:spcAft>
                <a:spcPts val="400"/>
              </a:spcAft>
              <a:defRPr sz="1100">
                <a:solidFill>
                  <a:srgbClr val="D7E2F5"/>
                </a:solidFill>
              </a:defRPr>
            </a:pPr>
            <a:r>
              <a:t>- 1024-bit Morgan ECFP: Captures high-level functional groups and circular chemical motifs.</a:t>
            </a:r>
          </a:p>
          <a:p>
            <a:pPr>
              <a:spcAft>
                <a:spcPts val="400"/>
              </a:spcAft>
              <a:defRPr sz="1100">
                <a:solidFill>
                  <a:srgbClr val="D7E2F5"/>
                </a:solidFill>
              </a:defRPr>
            </a:pPr>
            <a:r>
              <a:t>- Eliminates reliance on drug IDs; operates purely on raw molecular SMILES.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57800" cy="2148840"/>
          </a:xfrm>
          <a:prstGeom prst="roundRect">
            <a:avLst/>
          </a:prstGeom>
          <a:solidFill>
            <a:srgbClr val="162447"/>
          </a:solidFill>
          <a:ln w="15240">
            <a:solidFill>
              <a:srgbClr val="26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737360"/>
            <a:ext cx="4983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6D6A0"/>
                </a:solidFill>
              </a:defRPr>
            </a:pPr>
            <a:r>
              <a:t>ESM-2 Evolutionary Protein Modeling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057400"/>
            <a:ext cx="4983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D7E2F5"/>
                </a:solidFill>
              </a:defRPr>
            </a:pPr>
            <a:r>
              <a:t>- UniProt &amp; ESM-2 Integration: Uses Meta's protein language model to read amino acid FASTA sequences directly.</a:t>
            </a:r>
          </a:p>
          <a:p>
            <a:pPr>
              <a:spcAft>
                <a:spcPts val="400"/>
              </a:spcAft>
              <a:defRPr sz="1100">
                <a:solidFill>
                  <a:srgbClr val="D7E2F5"/>
                </a:solidFill>
              </a:defRPr>
            </a:pPr>
            <a:r>
              <a:t>- Solves Cold-Target Generalization: Accurately predicts interactions for brand-new enzyme/receptor targets without prior data.</a:t>
            </a:r>
          </a:p>
          <a:p>
            <a:pPr>
              <a:spcAft>
                <a:spcPts val="400"/>
              </a:spcAft>
              <a:defRPr sz="1100">
                <a:solidFill>
                  <a:srgbClr val="D7E2F5"/>
                </a:solidFill>
              </a:defRPr>
            </a:pPr>
            <a:r>
              <a:t>- CrossModalBioAttention aligns molecular graphs with target protein binding domains.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23360"/>
            <a:ext cx="5257800" cy="2148840"/>
          </a:xfrm>
          <a:prstGeom prst="roundRect">
            <a:avLst/>
          </a:prstGeom>
          <a:solidFill>
            <a:srgbClr val="162447"/>
          </a:solidFill>
          <a:ln w="15240">
            <a:solidFill>
              <a:srgbClr val="26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114800"/>
            <a:ext cx="4983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C107"/>
                </a:solidFill>
              </a:defRPr>
            </a:pPr>
            <a:r>
              <a:t>Multi-Omics Biological Grounding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434840"/>
            <a:ext cx="4983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D7E2F5"/>
                </a:solidFill>
              </a:defRPr>
            </a:pPr>
            <a:r>
              <a:t>- PharmGKB: Pharmacogenomic enzyme &amp; metabolism pathways (CYP450).</a:t>
            </a:r>
          </a:p>
          <a:p>
            <a:pPr>
              <a:spcAft>
                <a:spcPts val="400"/>
              </a:spcAft>
              <a:defRPr sz="1100">
                <a:solidFill>
                  <a:srgbClr val="D7E2F5"/>
                </a:solidFill>
              </a:defRPr>
            </a:pPr>
            <a:r>
              <a:t>- FAERS Real-World Signals: FDA post-marketing clinical adverse event severity.</a:t>
            </a:r>
          </a:p>
          <a:p>
            <a:pPr>
              <a:spcAft>
                <a:spcPts val="400"/>
              </a:spcAft>
              <a:defRPr sz="1100">
                <a:solidFill>
                  <a:srgbClr val="D7E2F5"/>
                </a:solidFill>
              </a:defRPr>
            </a:pPr>
            <a:r>
              <a:t>- BindingDB &amp; PDB: 3D macromolecular crystal complexes and target affinity profiles.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023360"/>
            <a:ext cx="5257800" cy="2148840"/>
          </a:xfrm>
          <a:prstGeom prst="roundRect">
            <a:avLst/>
          </a:prstGeom>
          <a:solidFill>
            <a:srgbClr val="162447"/>
          </a:solidFill>
          <a:ln w="15240">
            <a:solidFill>
              <a:srgbClr val="26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4114800"/>
            <a:ext cx="4983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6B6B"/>
                </a:solidFill>
              </a:defRPr>
            </a:pPr>
            <a:r>
              <a:t>Auditable Neighbor Memory (RAG-DDI)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4434840"/>
            <a:ext cx="4983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D7E2F5"/>
                </a:solidFill>
              </a:defRPr>
            </a:pPr>
            <a:r>
              <a:t>- Analog Evidence Retrieval: Finds nearest verified chemical analogs in memory to explain WHY two drugs interact.</a:t>
            </a:r>
          </a:p>
          <a:p>
            <a:pPr>
              <a:spcAft>
                <a:spcPts val="400"/>
              </a:spcAft>
              <a:defRPr sz="1100">
                <a:solidFill>
                  <a:srgbClr val="D7E2F5"/>
                </a:solidFill>
              </a:defRPr>
            </a:pPr>
            <a:r>
              <a:t>- Conformal Uncertainty: Rather than hallucinating risky guesses, the model quantifies uncertainty and alerts clinical pharmacists.</a:t>
            </a:r>
          </a:p>
          <a:p>
            <a:pPr>
              <a:spcAft>
                <a:spcPts val="400"/>
              </a:spcAft>
              <a:defRPr sz="1100">
                <a:solidFill>
                  <a:srgbClr val="D7E2F5"/>
                </a:solidFill>
              </a:defRPr>
            </a:pPr>
            <a:r>
              <a:t>- Strict Commutative Invariance: Guaranteeing f(Drug A, Drug B) === f(Drug B, Drug A) identically.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02920"/>
            <a:ext cx="2926080" cy="320040"/>
          </a:xfrm>
          <a:prstGeom prst="roundRect">
            <a:avLst/>
          </a:prstGeom>
          <a:solidFill>
            <a:srgbClr val="0F2D52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0D4FF"/>
                </a:solidFill>
              </a:defRPr>
            </a:pPr>
            <a:r>
              <a:t>SIH 2024-25  |  TECHNICAL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5029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8CA0BE"/>
                </a:solidFill>
              </a:defRPr>
            </a:pPr>
            <a:r>
              <a:t>04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686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End-to-End Multimodal Deep Learning Pipeline</a:t>
            </a:r>
          </a:p>
          <a:p>
            <a:pPr>
              <a:defRPr sz="1150">
                <a:solidFill>
                  <a:srgbClr val="8CA0BE"/>
                </a:solidFill>
              </a:defRPr>
            </a:pPr>
            <a:r>
              <a:t>From raw chemical SMILES &amp; protein FASTA sequences to cost-calibrated clinical interaction risk.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560320" cy="4389120"/>
          </a:xfrm>
          <a:prstGeom prst="roundRect">
            <a:avLst/>
          </a:prstGeom>
          <a:solidFill>
            <a:srgbClr val="162447"/>
          </a:solidFill>
          <a:ln w="15240">
            <a:solidFill>
              <a:srgbClr val="26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D4FF"/>
                </a:solidFill>
              </a:defRPr>
            </a:pPr>
            <a:r>
              <a:t>STAGE 1: Ingestion &amp; Featurization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194560"/>
            <a:ext cx="2331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D7E2F5"/>
                </a:solidFill>
              </a:defRPr>
            </a:pPr>
            <a:r>
              <a:t>- Input: Drug SMILES (Drug A, Drug B) + UniProt target sequences.</a:t>
            </a:r>
          </a:p>
          <a:p>
            <a:pPr>
              <a:spcAft>
                <a:spcPts val="600"/>
              </a:spcAft>
              <a:defRPr sz="1050">
                <a:solidFill>
                  <a:srgbClr val="D7E2F5"/>
                </a:solidFill>
              </a:defRPr>
            </a:pPr>
            <a:r>
              <a:t>- RDKit Parser: Extracts atomic numbers, hybridization, formal charge, bond stereochemistry.</a:t>
            </a:r>
          </a:p>
          <a:p>
            <a:pPr>
              <a:spcAft>
                <a:spcPts val="600"/>
              </a:spcAft>
              <a:defRPr sz="1050">
                <a:solidFill>
                  <a:srgbClr val="D7E2F5"/>
                </a:solidFill>
              </a:defRPr>
            </a:pPr>
            <a:r>
              <a:t>- 1024-bit Morgan Fingerprints (radius=2) + ESM-2 residue tokenization.</a:t>
            </a:r>
          </a:p>
          <a:p>
            <a:pPr>
              <a:spcAft>
                <a:spcPts val="600"/>
              </a:spcAft>
              <a:defRPr sz="1050">
                <a:solidFill>
                  <a:srgbClr val="D7E2F5"/>
                </a:solidFill>
              </a:defRPr>
            </a:pPr>
            <a:r>
              <a:t>- Multi-omics linking (PharmGKB, FAERS, BindingDB, PDB complexes).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645920"/>
            <a:ext cx="2560320" cy="4389120"/>
          </a:xfrm>
          <a:prstGeom prst="roundRect">
            <a:avLst/>
          </a:prstGeom>
          <a:solidFill>
            <a:srgbClr val="162447"/>
          </a:solidFill>
          <a:ln w="15240">
            <a:solidFill>
              <a:srgbClr val="26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79" y="173736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C107"/>
                </a:solidFill>
              </a:defRPr>
            </a:pPr>
            <a:r>
              <a:t>STAGE 2: Dual-Stream Encoding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4448" y="2194560"/>
            <a:ext cx="2331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D7E2F5"/>
                </a:solidFill>
              </a:defRPr>
            </a:pPr>
            <a:r>
              <a:t>- Edge-Aware GATv2: Multi-head graph attention propagating atom &amp; bond features across chemical space.</a:t>
            </a:r>
          </a:p>
          <a:p>
            <a:pPr>
              <a:spcAft>
                <a:spcPts val="600"/>
              </a:spcAft>
              <a:defRPr sz="1050">
                <a:solidFill>
                  <a:srgbClr val="D7E2F5"/>
                </a:solidFill>
              </a:defRPr>
            </a:pPr>
            <a:r>
              <a:t>- ECFP Dense Projection: Compresses high-dimensional circular fingerprints to embedding space.</a:t>
            </a:r>
          </a:p>
          <a:p>
            <a:pPr>
              <a:spcAft>
                <a:spcPts val="600"/>
              </a:spcAft>
              <a:defRPr sz="1050">
                <a:solidFill>
                  <a:srgbClr val="D7E2F5"/>
                </a:solidFill>
              </a:defRPr>
            </a:pPr>
            <a:r>
              <a:t>- ESM-2 Protein Encoder: Transforms target amino acid sequence into contextual 320-dim biological vectors.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45920"/>
            <a:ext cx="2560320" cy="4389120"/>
          </a:xfrm>
          <a:prstGeom prst="roundRect">
            <a:avLst/>
          </a:prstGeom>
          <a:solidFill>
            <a:srgbClr val="162447"/>
          </a:solidFill>
          <a:ln w="15240">
            <a:solidFill>
              <a:srgbClr val="26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73736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6D6A0"/>
                </a:solidFill>
              </a:defRPr>
            </a:pPr>
            <a:r>
              <a:t>STAGE 3: Cross-Modal Attention &amp; Fusion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2194560"/>
            <a:ext cx="2331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D7E2F5"/>
                </a:solidFill>
              </a:defRPr>
            </a:pPr>
            <a:r>
              <a:t>- CrossModalBioAttention: Dynamically aligns drug molecular graph with biological target enzymes.</a:t>
            </a:r>
          </a:p>
          <a:p>
            <a:pPr>
              <a:spcAft>
                <a:spcPts val="600"/>
              </a:spcAft>
              <a:defRPr sz="1050">
                <a:solidFill>
                  <a:srgbClr val="D7E2F5"/>
                </a:solidFill>
              </a:defRPr>
            </a:pPr>
            <a:r>
              <a:t>- Commutative Pair Fusion: Uses symmetric operations (eA + eB and |eA - eB|) ensuring order independence.</a:t>
            </a:r>
          </a:p>
          <a:p>
            <a:pPr>
              <a:spcAft>
                <a:spcPts val="600"/>
              </a:spcAft>
              <a:defRPr sz="1050">
                <a:solidFill>
                  <a:srgbClr val="D7E2F5"/>
                </a:solidFill>
              </a:defRPr>
            </a:pPr>
            <a:r>
              <a:t>- RAG Memory Layer: Retrieves top-k nearest historical analogs for auditable reasoning.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1645920"/>
            <a:ext cx="2560320" cy="4389120"/>
          </a:xfrm>
          <a:prstGeom prst="roundRect">
            <a:avLst/>
          </a:prstGeom>
          <a:solidFill>
            <a:srgbClr val="162447"/>
          </a:solidFill>
          <a:ln w="15240">
            <a:solidFill>
              <a:srgbClr val="26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98280" y="173736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6B6B"/>
                </a:solidFill>
              </a:defRPr>
            </a:pPr>
            <a:r>
              <a:t>STAGE 4: Calibration &amp; Clinical 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70848" y="2194560"/>
            <a:ext cx="2331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D7E2F5"/>
                </a:solidFill>
              </a:defRPr>
            </a:pPr>
            <a:r>
              <a:t>- Cost-Sensitive Youden Thresholding: Calibrated for clinical safety (J_cost = 2.0*TPR - FPR).</a:t>
            </a:r>
          </a:p>
          <a:p>
            <a:pPr>
              <a:spcAft>
                <a:spcPts val="600"/>
              </a:spcAft>
              <a:defRPr sz="1050">
                <a:solidFill>
                  <a:srgbClr val="D7E2F5"/>
                </a:solidFill>
              </a:defRPr>
            </a:pPr>
            <a:r>
              <a:t>- Out-of-Sample Platt &amp; Temperature Scaling: True calibrated probability scores.</a:t>
            </a:r>
          </a:p>
          <a:p>
            <a:pPr>
              <a:spcAft>
                <a:spcPts val="600"/>
              </a:spcAft>
              <a:defRPr sz="1050">
                <a:solidFill>
                  <a:srgbClr val="D7E2F5"/>
                </a:solidFill>
              </a:defRPr>
            </a:pPr>
            <a:r>
              <a:t>- Conformal Prediction Set: Safe abstention flag when confidence falls below 95% threshold.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6172200"/>
            <a:ext cx="10728655" cy="411480"/>
          </a:xfrm>
          <a:prstGeom prst="roundRect">
            <a:avLst/>
          </a:prstGeom>
          <a:solidFill>
            <a:srgbClr val="0F2D52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6217920"/>
            <a:ext cx="103628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00D4FF"/>
                </a:solidFill>
              </a:defRPr>
            </a:pPr>
            <a:r>
              <a:t>Zero Data Leakage: Training, validation, and post-hoc calibration partitions are strictly isolated with Murcko scaffold splits.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02920"/>
            <a:ext cx="2926080" cy="320040"/>
          </a:xfrm>
          <a:prstGeom prst="roundRect">
            <a:avLst/>
          </a:prstGeom>
          <a:solidFill>
            <a:srgbClr val="0F2D52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0D4FF"/>
                </a:solidFill>
              </a:defRPr>
            </a:pPr>
            <a:r>
              <a:t>SIH 2024-25  |  NOVELTY &amp;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5029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8CA0BE"/>
                </a:solidFill>
              </a:defRPr>
            </a:pPr>
            <a:r>
              <a:t>05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686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Competitive Benchmark: Why AuditDDI Outperforms</a:t>
            </a:r>
          </a:p>
          <a:p>
            <a:pPr>
              <a:defRPr sz="1150">
                <a:solidFill>
                  <a:srgbClr val="8CA0BE"/>
                </a:solidFill>
              </a:defRPr>
            </a:pPr>
            <a:r>
              <a:t>Comparison against static clinical lookup databases and state-of-the-art research AI models.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45920"/>
          <a:ext cx="1072865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468880"/>
                <a:gridCol w="2468880"/>
                <a:gridCol w="2864815"/>
              </a:tblGrid>
              <a:tr h="587828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Capabilities &amp; Metrics</a:t>
                      </a:r>
                    </a:p>
                  </a:txBody>
                  <a:tcPr>
                    <a:solidFill>
                      <a:srgbClr val="1624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Traditional Databases (DrugBank, Medscape)</a:t>
                      </a:r>
                    </a:p>
                  </a:txBody>
                  <a:tcPr>
                    <a:solidFill>
                      <a:srgbClr val="1624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Standard AI Models (Decagon, DeepDDI)</a:t>
                      </a:r>
                    </a:p>
                  </a:txBody>
                  <a:tcPr>
                    <a:solidFill>
                      <a:srgbClr val="1624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0D4FF"/>
                          </a:solidFill>
                        </a:defRPr>
                      </a:pPr>
                      <a:r>
                        <a:t>AuditDDI (Our Innovation)</a:t>
                      </a:r>
                    </a:p>
                  </a:txBody>
                  <a:tcPr>
                    <a:solidFill>
                      <a:srgbClr val="162447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Cold-Start (Unseen Drugs)</a:t>
                      </a:r>
                    </a:p>
                  </a:txBody>
                  <a:tcPr>
                    <a:solidFill>
                      <a:srgbClr val="1624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8CA0BE"/>
                          </a:solidFill>
                        </a:defRPr>
                      </a:pPr>
                      <a:r>
                        <a:t>FAIL (Zero data for novel molecules)</a:t>
                      </a:r>
                    </a:p>
                  </a:txBody>
                  <a:tcPr>
                    <a:solidFill>
                      <a:srgbClr val="1624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8CA0BE"/>
                          </a:solidFill>
                        </a:defRPr>
                      </a:pPr>
                      <a:r>
                        <a:t>POOR (~50% AUROC on unseen splits)</a:t>
                      </a:r>
                    </a:p>
                  </a:txBody>
                  <a:tcPr>
                    <a:solidFill>
                      <a:srgbClr val="1624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6D6A0"/>
                          </a:solidFill>
                        </a:defRPr>
                      </a:pPr>
                      <a:r>
                        <a:t>EXCELLENT (Generalizes via ESM-2 &amp; Fingerprints)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Chemical Scaffold Generalization</a:t>
                      </a:r>
                    </a:p>
                  </a:txBody>
                  <a:tcPr>
                    <a:solidFill>
                      <a:srgbClr val="101A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8CA0BE"/>
                          </a:solidFill>
                        </a:defRPr>
                      </a:pPr>
                      <a:r>
                        <a:t>N/A (Dictionary lookup only)</a:t>
                      </a:r>
                    </a:p>
                  </a:txBody>
                  <a:tcPr>
                    <a:solidFill>
                      <a:srgbClr val="101A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8CA0BE"/>
                          </a:solidFill>
                        </a:defRPr>
                      </a:pPr>
                      <a:r>
                        <a:t>FAIL (Suffers from scaffold memorization)</a:t>
                      </a:r>
                    </a:p>
                  </a:txBody>
                  <a:tcPr>
                    <a:solidFill>
                      <a:srgbClr val="101A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6D6A0"/>
                          </a:solidFill>
                        </a:defRPr>
                      </a:pPr>
                      <a:r>
                        <a:t>ROBUST (Murcko Scaffold-Disjoint Audited)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Biological Grounding</a:t>
                      </a:r>
                    </a:p>
                  </a:txBody>
                  <a:tcPr>
                    <a:solidFill>
                      <a:srgbClr val="1624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8CA0BE"/>
                          </a:solidFill>
                        </a:defRPr>
                      </a:pPr>
                      <a:r>
                        <a:t>Text notes only (Non-computational)</a:t>
                      </a:r>
                    </a:p>
                  </a:txBody>
                  <a:tcPr>
                    <a:solidFill>
                      <a:srgbClr val="1624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8CA0BE"/>
                          </a:solidFill>
                        </a:defRPr>
                      </a:pPr>
                      <a:r>
                        <a:t>Single network (PPI only)</a:t>
                      </a:r>
                    </a:p>
                  </a:txBody>
                  <a:tcPr>
                    <a:solidFill>
                      <a:srgbClr val="1624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6D6A0"/>
                          </a:solidFill>
                        </a:defRPr>
                      </a:pPr>
                      <a:r>
                        <a:t>MULTIMODAL (PharmGKB, FAERS, PDB, UniProt)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Auditability &amp; Explainability</a:t>
                      </a:r>
                    </a:p>
                  </a:txBody>
                  <a:tcPr>
                    <a:solidFill>
                      <a:srgbClr val="101A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8CA0BE"/>
                          </a:solidFill>
                        </a:defRPr>
                      </a:pPr>
                      <a:r>
                        <a:t>Static reference links</a:t>
                      </a:r>
                    </a:p>
                  </a:txBody>
                  <a:tcPr>
                    <a:solidFill>
                      <a:srgbClr val="101A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8CA0BE"/>
                          </a:solidFill>
                        </a:defRPr>
                      </a:pPr>
                      <a:r>
                        <a:t>Black-Box (Unexplained probability)</a:t>
                      </a:r>
                    </a:p>
                  </a:txBody>
                  <a:tcPr>
                    <a:solidFill>
                      <a:srgbClr val="101A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6D6A0"/>
                          </a:solidFill>
                        </a:defRPr>
                      </a:pPr>
                      <a:r>
                        <a:t>AUDITABLE (RAG-DDI Analog Memory Retrieval)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Uncertainty &amp; Clinical Safety</a:t>
                      </a:r>
                    </a:p>
                  </a:txBody>
                  <a:tcPr>
                    <a:solidFill>
                      <a:srgbClr val="1624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8CA0BE"/>
                          </a:solidFill>
                        </a:defRPr>
                      </a:pPr>
                      <a:r>
                        <a:t>Binary warning only</a:t>
                      </a:r>
                    </a:p>
                  </a:txBody>
                  <a:tcPr>
                    <a:solidFill>
                      <a:srgbClr val="1624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8CA0BE"/>
                          </a:solidFill>
                        </a:defRPr>
                      </a:pPr>
                      <a:r>
                        <a:t>Overconfident raw logits</a:t>
                      </a:r>
                    </a:p>
                  </a:txBody>
                  <a:tcPr>
                    <a:solidFill>
                      <a:srgbClr val="1624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6D6A0"/>
                          </a:solidFill>
                        </a:defRPr>
                      </a:pPr>
                      <a:r>
                        <a:t>CONFORMAL (Calibrated Abstention on OOD)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Inference Speed &amp; Deployment</a:t>
                      </a:r>
                    </a:p>
                  </a:txBody>
                  <a:tcPr>
                    <a:solidFill>
                      <a:srgbClr val="101A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8CA0BE"/>
                          </a:solidFill>
                        </a:defRPr>
                      </a:pPr>
                      <a:r>
                        <a:t>Fast lookup (&lt;10ms)</a:t>
                      </a:r>
                    </a:p>
                  </a:txBody>
                  <a:tcPr>
                    <a:solidFill>
                      <a:srgbClr val="101A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8CA0BE"/>
                          </a:solidFill>
                        </a:defRPr>
                      </a:pPr>
                      <a:r>
                        <a:t>Heavy graph queries (&gt;500ms)</a:t>
                      </a:r>
                    </a:p>
                  </a:txBody>
                  <a:tcPr>
                    <a:solidFill>
                      <a:srgbClr val="101A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6D6A0"/>
                          </a:solidFill>
                        </a:defRPr>
                      </a:pPr>
                      <a:r>
                        <a:t>HIGH SPEED (&lt;45ms/pair, Dockerized FastAPI)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5897880"/>
            <a:ext cx="10728655" cy="685800"/>
          </a:xfrm>
          <a:prstGeom prst="roundRect">
            <a:avLst/>
          </a:prstGeom>
          <a:solidFill>
            <a:srgbClr val="162447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94360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Key Innovation Moat: AuditDDI is the FIRST system to combine ESM-2 protein language modeling with auditable neighbor memory and strict conformal risk abstention for cold-start DDIs.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02920"/>
            <a:ext cx="2926080" cy="320040"/>
          </a:xfrm>
          <a:prstGeom prst="roundRect">
            <a:avLst/>
          </a:prstGeom>
          <a:solidFill>
            <a:srgbClr val="0F2D52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0D4FF"/>
                </a:solidFill>
              </a:defRPr>
            </a:pPr>
            <a:r>
              <a:t>SIH 2024-25  |  FEASIBILITY &amp;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5029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8CA0BE"/>
                </a:solidFill>
              </a:defRPr>
            </a:pPr>
            <a:r>
              <a:t>06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686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Experimental Validation &amp; Production Readiness</a:t>
            </a:r>
          </a:p>
          <a:p>
            <a:pPr>
              <a:defRPr sz="1150">
                <a:solidFill>
                  <a:srgbClr val="8CA0BE"/>
                </a:solidFill>
              </a:defRPr>
            </a:pPr>
            <a:r>
              <a:t>Rigorously audited on 639 curated drugs, 218 passing automated tests, and real-time API serving.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429000" cy="1463040"/>
          </a:xfrm>
          <a:prstGeom prst="roundRect">
            <a:avLst/>
          </a:prstGeom>
          <a:solidFill>
            <a:srgbClr val="162447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31546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D4FF"/>
                </a:solidFill>
              </a:defRPr>
            </a:pPr>
            <a:r>
              <a:t>0.9516 AUROC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Validated Accuracy</a:t>
            </a:r>
          </a:p>
          <a:p>
            <a:pPr>
              <a:defRPr sz="950">
                <a:solidFill>
                  <a:srgbClr val="8CA0BE"/>
                </a:solidFill>
              </a:defRPr>
            </a:pPr>
            <a:r>
              <a:t>Leak-free Transductive Holdout AUROC verified on multi-omics graph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429000" cy="1463040"/>
          </a:xfrm>
          <a:prstGeom prst="roundRect">
            <a:avLst/>
          </a:prstGeom>
          <a:solidFill>
            <a:srgbClr val="162447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737360"/>
            <a:ext cx="31546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6D6A0"/>
                </a:solidFill>
              </a:defRPr>
            </a:pPr>
            <a:r>
              <a:t>&lt;45 ms / Pair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Real-Time Inference</a:t>
            </a:r>
          </a:p>
          <a:p>
            <a:pPr>
              <a:defRPr sz="950">
                <a:solidFill>
                  <a:srgbClr val="8CA0BE"/>
                </a:solidFill>
              </a:defRPr>
            </a:pPr>
            <a:r>
              <a:t>Blazing fast CPU/GPU response time suitable for live prescription screening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429000" cy="1463040"/>
          </a:xfrm>
          <a:prstGeom prst="roundRect">
            <a:avLst/>
          </a:prstGeom>
          <a:solidFill>
            <a:srgbClr val="162447"/>
          </a:solidFill>
          <a:ln w="1524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1737360"/>
            <a:ext cx="31546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C107"/>
                </a:solidFill>
              </a:defRPr>
            </a:pPr>
            <a:r>
              <a:t>218 Automated Tests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Software Reliability</a:t>
            </a:r>
          </a:p>
          <a:p>
            <a:pPr>
              <a:defRPr sz="950">
                <a:solidFill>
                  <a:srgbClr val="8CA0BE"/>
                </a:solidFill>
              </a:defRPr>
            </a:pPr>
            <a:r>
              <a:t>Comprehensive test suite covering leak detection, symmetry &amp; APIs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91840"/>
            <a:ext cx="5257800" cy="3108960"/>
          </a:xfrm>
          <a:prstGeom prst="roundRect">
            <a:avLst/>
          </a:prstGeom>
          <a:solidFill>
            <a:srgbClr val="162447"/>
          </a:solidFill>
          <a:ln w="15240">
            <a:solidFill>
              <a:srgbClr val="26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83280"/>
            <a:ext cx="4983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D4FF"/>
                </a:solidFill>
              </a:defRPr>
            </a:pPr>
            <a:r>
              <a:t>Production Architecture (Ready Today)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749039"/>
            <a:ext cx="49834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D7E2F5"/>
                </a:solidFill>
              </a:defRPr>
            </a:pPr>
            <a:r>
              <a:t>- FastAPI Backend: Asynchronous, typed endpoints (/health, /ready, /predict, /explain).</a:t>
            </a:r>
          </a:p>
          <a:p>
            <a:pPr>
              <a:spcAft>
                <a:spcPts val="600"/>
              </a:spcAft>
              <a:defRPr sz="1100">
                <a:solidFill>
                  <a:srgbClr val="D7E2F5"/>
                </a:solidFill>
              </a:defRPr>
            </a:pPr>
            <a:r>
              <a:t>- Interactive Pharmacist Dashboard: Clean web interface with dynamic molecular structure rendering and instant risk scoring.</a:t>
            </a:r>
          </a:p>
          <a:p>
            <a:pPr>
              <a:spcAft>
                <a:spcPts val="600"/>
              </a:spcAft>
              <a:defRPr sz="1100">
                <a:solidFill>
                  <a:srgbClr val="D7E2F5"/>
                </a:solidFill>
              </a:defRPr>
            </a:pPr>
            <a:r>
              <a:t>- Containerized &amp; Cloud-Agnostic: Complete Docker &amp; Docker Compose setup, runs on-premise or cloud with read-only root security.</a:t>
            </a:r>
          </a:p>
          <a:p>
            <a:pPr>
              <a:spcAft>
                <a:spcPts val="600"/>
              </a:spcAft>
              <a:defRPr sz="1100">
                <a:solidFill>
                  <a:srgbClr val="D7E2F5"/>
                </a:solidFill>
              </a:defRPr>
            </a:pPr>
            <a:r>
              <a:t>- High Throughput: Supports batch prescription screening of 50+ drug combinations in under 2 seconds.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291840"/>
            <a:ext cx="5257800" cy="3108960"/>
          </a:xfrm>
          <a:prstGeom prst="roundRect">
            <a:avLst/>
          </a:prstGeom>
          <a:solidFill>
            <a:srgbClr val="162447"/>
          </a:solidFill>
          <a:ln w="15240">
            <a:solidFill>
              <a:srgbClr val="26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3383280"/>
            <a:ext cx="4983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6D6A0"/>
                </a:solidFill>
              </a:defRPr>
            </a:pPr>
            <a:r>
              <a:t>Clinical Safety &amp; Audit Guardrails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749039"/>
            <a:ext cx="49834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D7E2F5"/>
                </a:solidFill>
              </a:defRPr>
            </a:pPr>
            <a:r>
              <a:t>- Strict Out-of-Distribution (OOD) Guard: Rejects invalid SMILES, disconnected ions, and chemically unviable structures before graph construction.</a:t>
            </a:r>
          </a:p>
          <a:p>
            <a:pPr>
              <a:spcAft>
                <a:spcPts val="600"/>
              </a:spcAft>
              <a:defRPr sz="1100">
                <a:solidFill>
                  <a:srgbClr val="D7E2F5"/>
                </a:solidFill>
              </a:defRPr>
            </a:pPr>
            <a:r>
              <a:t>- Symmetric Guarantee: Commutative forward pass mathematically guarantees f(A, B) == f(B, A), preventing order-dependent prescription errors.</a:t>
            </a:r>
          </a:p>
          <a:p>
            <a:pPr>
              <a:spcAft>
                <a:spcPts val="600"/>
              </a:spcAft>
              <a:defRPr sz="1100">
                <a:solidFill>
                  <a:srgbClr val="D7E2F5"/>
                </a:solidFill>
              </a:defRPr>
            </a:pPr>
            <a:r>
              <a:t>- Conformal Abstention: Flags high-uncertainty drug pairs for manual clinical pharmacist review instead of making hazardous guesses.</a:t>
            </a:r>
          </a:p>
          <a:p>
            <a:pPr>
              <a:spcAft>
                <a:spcPts val="600"/>
              </a:spcAft>
              <a:defRPr sz="1100">
                <a:solidFill>
                  <a:srgbClr val="D7E2F5"/>
                </a:solidFill>
              </a:defRPr>
            </a:pPr>
            <a:r>
              <a:t>- Cost-Sensitive Tuning: Youden index set with 2x penalty on false negatives to prioritize patient safety.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02920"/>
            <a:ext cx="2926080" cy="320040"/>
          </a:xfrm>
          <a:prstGeom prst="roundRect">
            <a:avLst/>
          </a:prstGeom>
          <a:solidFill>
            <a:srgbClr val="0F2D52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0D4FF"/>
                </a:solidFill>
              </a:defRPr>
            </a:pPr>
            <a:r>
              <a:t>SIH 2024-25  |  IMPACT &amp; BENEFITS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5029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8CA0BE"/>
                </a:solidFill>
              </a:defRPr>
            </a:pPr>
            <a:r>
              <a:t>07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686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Healthcare Impact &amp; National Digital Health Alignment</a:t>
            </a:r>
          </a:p>
          <a:p>
            <a:pPr>
              <a:defRPr sz="1150">
                <a:solidFill>
                  <a:srgbClr val="8CA0BE"/>
                </a:solidFill>
              </a:defRPr>
            </a:pPr>
            <a:r>
              <a:t>Empowering clinicians, protecting multi-morbid patients, and accelerating drug discovery.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57800" cy="2148840"/>
          </a:xfrm>
          <a:prstGeom prst="roundRect">
            <a:avLst/>
          </a:prstGeom>
          <a:solidFill>
            <a:srgbClr val="162447"/>
          </a:solidFill>
          <a:ln w="15240">
            <a:solidFill>
              <a:srgbClr val="26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4983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D4FF"/>
                </a:solidFill>
              </a:defRPr>
            </a:pPr>
            <a:r>
              <a:t>Clinicians &amp; Hospitals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57400"/>
            <a:ext cx="4983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D7E2F5"/>
                </a:solidFill>
              </a:defRPr>
            </a:pPr>
            <a:r>
              <a:t>- Real-time prescription copilot alerting doctors during multi-specialty rounds.</a:t>
            </a:r>
          </a:p>
          <a:p>
            <a:pPr>
              <a:spcAft>
                <a:spcPts val="400"/>
              </a:spcAft>
              <a:defRPr sz="1100">
                <a:solidFill>
                  <a:srgbClr val="D7E2F5"/>
                </a:solidFill>
              </a:defRPr>
            </a:pPr>
            <a:r>
              <a:t>- Reduces preventable drug-related ICU admissions and lengths of hospital stay.</a:t>
            </a:r>
          </a:p>
          <a:p>
            <a:pPr>
              <a:spcAft>
                <a:spcPts val="400"/>
              </a:spcAft>
              <a:defRPr sz="1100">
                <a:solidFill>
                  <a:srgbClr val="D7E2F5"/>
                </a:solidFill>
              </a:defRPr>
            </a:pPr>
            <a:r>
              <a:t>- Audit trail provides medicolegal documentation and transparent reasoning.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57800" cy="2148840"/>
          </a:xfrm>
          <a:prstGeom prst="roundRect">
            <a:avLst/>
          </a:prstGeom>
          <a:solidFill>
            <a:srgbClr val="162447"/>
          </a:solidFill>
          <a:ln w="15240">
            <a:solidFill>
              <a:srgbClr val="26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737360"/>
            <a:ext cx="4983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6D6A0"/>
                </a:solidFill>
              </a:defRPr>
            </a:pPr>
            <a:r>
              <a:t>Patients &amp; Elderly Care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057400"/>
            <a:ext cx="4983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D7E2F5"/>
                </a:solidFill>
              </a:defRPr>
            </a:pPr>
            <a:r>
              <a:t>- Direct protection for elderly polypharmacy patients taking 5+ daily chronic medications.</a:t>
            </a:r>
          </a:p>
          <a:p>
            <a:pPr>
              <a:spcAft>
                <a:spcPts val="400"/>
              </a:spcAft>
              <a:defRPr sz="1100">
                <a:solidFill>
                  <a:srgbClr val="D7E2F5"/>
                </a:solidFill>
              </a:defRPr>
            </a:pPr>
            <a:r>
              <a:t>- Prevents silent drug clashes (e.g. fatal arrhythmias from QT prolongation, gastrointestinal bleeding).</a:t>
            </a:r>
          </a:p>
          <a:p>
            <a:pPr>
              <a:spcAft>
                <a:spcPts val="400"/>
              </a:spcAft>
              <a:defRPr sz="1100">
                <a:solidFill>
                  <a:srgbClr val="D7E2F5"/>
                </a:solidFill>
              </a:defRPr>
            </a:pPr>
            <a:r>
              <a:t>- Improves quality of life and medication adherence.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23360"/>
            <a:ext cx="5257800" cy="2148840"/>
          </a:xfrm>
          <a:prstGeom prst="roundRect">
            <a:avLst/>
          </a:prstGeom>
          <a:solidFill>
            <a:srgbClr val="162447"/>
          </a:solidFill>
          <a:ln w="15240">
            <a:solidFill>
              <a:srgbClr val="26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114800"/>
            <a:ext cx="4983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C107"/>
                </a:solidFill>
              </a:defRPr>
            </a:pPr>
            <a:r>
              <a:t>Pharmaceutical R&amp;D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434840"/>
            <a:ext cx="4983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D7E2F5"/>
                </a:solidFill>
              </a:defRPr>
            </a:pPr>
            <a:r>
              <a:t>- De-risks drug discovery: Screens novel lead candidates for interaction liabilities before costly clinical trials.</a:t>
            </a:r>
          </a:p>
          <a:p>
            <a:pPr>
              <a:spcAft>
                <a:spcPts val="400"/>
              </a:spcAft>
              <a:defRPr sz="1100">
                <a:solidFill>
                  <a:srgbClr val="D7E2F5"/>
                </a:solidFill>
              </a:defRPr>
            </a:pPr>
            <a:r>
              <a:t>- Accelerates combination oncology therapies and antiviral cocktail design.</a:t>
            </a:r>
          </a:p>
          <a:p>
            <a:pPr>
              <a:spcAft>
                <a:spcPts val="400"/>
              </a:spcAft>
              <a:defRPr sz="1100">
                <a:solidFill>
                  <a:srgbClr val="D7E2F5"/>
                </a:solidFill>
              </a:defRPr>
            </a:pPr>
            <a:r>
              <a:t>- Significant cost reduction in preclinical pharmacovigilance screening.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023360"/>
            <a:ext cx="5257800" cy="2148840"/>
          </a:xfrm>
          <a:prstGeom prst="roundRect">
            <a:avLst/>
          </a:prstGeom>
          <a:solidFill>
            <a:srgbClr val="162447"/>
          </a:solidFill>
          <a:ln w="15240">
            <a:solidFill>
              <a:srgbClr val="26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4114800"/>
            <a:ext cx="4983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6B6B"/>
                </a:solidFill>
              </a:defRPr>
            </a:pPr>
            <a:r>
              <a:t>National Alignment: ABDM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4434840"/>
            <a:ext cx="4983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D7E2F5"/>
                </a:solidFill>
              </a:defRPr>
            </a:pPr>
            <a:r>
              <a:t>- Seamless integration with Ayushman Bharat Digital Mission (ABDM) through FHIR/HL7 APIs.</a:t>
            </a:r>
          </a:p>
          <a:p>
            <a:pPr>
              <a:spcAft>
                <a:spcPts val="400"/>
              </a:spcAft>
              <a:defRPr sz="1100">
                <a:solidFill>
                  <a:srgbClr val="D7E2F5"/>
                </a:solidFill>
              </a:defRPr>
            </a:pPr>
            <a:r>
              <a:t>- Intelligent decision support for e-Sanjeevani telemedicine and Jan Aushadhi Kendras.</a:t>
            </a:r>
          </a:p>
          <a:p>
            <a:pPr>
              <a:spcAft>
                <a:spcPts val="400"/>
              </a:spcAft>
              <a:defRPr sz="1100">
                <a:solidFill>
                  <a:srgbClr val="D7E2F5"/>
                </a:solidFill>
              </a:defRPr>
            </a:pPr>
            <a:r>
              <a:t>- Contributes to National Pharmacovigilance Programme of India (PvPI).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02920"/>
            <a:ext cx="2926080" cy="320040"/>
          </a:xfrm>
          <a:prstGeom prst="roundRect">
            <a:avLst/>
          </a:prstGeom>
          <a:solidFill>
            <a:srgbClr val="0F2D52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0D4FF"/>
                </a:solidFill>
              </a:defRPr>
            </a:pPr>
            <a:r>
              <a:t>SIH 2024-25  |  ROADMAP &amp; SCALING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5029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8CA0BE"/>
                </a:solidFill>
              </a:defRPr>
            </a:pPr>
            <a:r>
              <a:t>08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686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Future Scope &amp; Implementation Roadmap</a:t>
            </a:r>
          </a:p>
          <a:p>
            <a:pPr>
              <a:defRPr sz="1150">
                <a:solidFill>
                  <a:srgbClr val="8CA0BE"/>
                </a:solidFill>
              </a:defRPr>
            </a:pPr>
            <a:r>
              <a:t>A structured, milestone-driven execution plan from prototype to national deployment.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429000" cy="3840480"/>
          </a:xfrm>
          <a:prstGeom prst="roundRect">
            <a:avLst/>
          </a:prstGeom>
          <a:solidFill>
            <a:srgbClr val="162447"/>
          </a:solidFill>
          <a:ln w="15240">
            <a:solidFill>
              <a:srgbClr val="26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3154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D4FF"/>
                </a:solidFill>
              </a:defRPr>
            </a:pPr>
            <a:r>
              <a:t>Phase 1: Current State (Hackathon MVP)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94560"/>
            <a:ext cx="3154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00D4FF"/>
                </a:solidFill>
              </a:defRPr>
            </a:pPr>
            <a:r>
              <a:t>Milestone: Completed &amp; Audited</a:t>
            </a:r>
          </a:p>
          <a:p>
            <a:pPr>
              <a:spcAft>
                <a:spcPts val="500"/>
              </a:spcAft>
              <a:defRPr sz="1050">
                <a:solidFill>
                  <a:srgbClr val="D7E2F5"/>
                </a:solidFill>
              </a:defRPr>
            </a:pPr>
            <a:r>
              <a:t>- Dual-stream GNN + 1024-bit Morgan ECFP pipeline.</a:t>
            </a:r>
          </a:p>
          <a:p>
            <a:pPr>
              <a:spcAft>
                <a:spcPts val="500"/>
              </a:spcAft>
              <a:defRPr sz="1050">
                <a:solidFill>
                  <a:srgbClr val="D7E2F5"/>
                </a:solidFill>
              </a:defRPr>
            </a:pPr>
            <a:r>
              <a:t>- UniProt &amp; ESM-2 protein sequence embedding integration.</a:t>
            </a:r>
          </a:p>
          <a:p>
            <a:pPr>
              <a:spcAft>
                <a:spcPts val="500"/>
              </a:spcAft>
              <a:defRPr sz="1050">
                <a:solidFill>
                  <a:srgbClr val="D7E2F5"/>
                </a:solidFill>
              </a:defRPr>
            </a:pPr>
            <a:r>
              <a:t>- 0.9516 AUROC validated on leak-free holdout splits.</a:t>
            </a:r>
          </a:p>
          <a:p>
            <a:pPr>
              <a:spcAft>
                <a:spcPts val="500"/>
              </a:spcAft>
              <a:defRPr sz="1050">
                <a:solidFill>
                  <a:srgbClr val="D7E2F5"/>
                </a:solidFill>
              </a:defRPr>
            </a:pPr>
            <a:r>
              <a:t>- Containerized FastAPI service + Interactive Doctor Dashboard.</a:t>
            </a:r>
          </a:p>
          <a:p>
            <a:pPr>
              <a:spcAft>
                <a:spcPts val="500"/>
              </a:spcAft>
              <a:defRPr sz="1050">
                <a:solidFill>
                  <a:srgbClr val="D7E2F5"/>
                </a:solidFill>
              </a:defRPr>
            </a:pPr>
            <a:r>
              <a:t>- 218 passing automated tests &amp; rigorous audit fixes.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429000" cy="3840480"/>
          </a:xfrm>
          <a:prstGeom prst="roundRect">
            <a:avLst/>
          </a:prstGeom>
          <a:solidFill>
            <a:srgbClr val="162447"/>
          </a:solidFill>
          <a:ln w="15240">
            <a:solidFill>
              <a:srgbClr val="26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737360"/>
            <a:ext cx="3154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C107"/>
                </a:solidFill>
              </a:defRPr>
            </a:pPr>
            <a:r>
              <a:t>Phase 2: EHR &amp; ABDM Integration (Months 1-6)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194560"/>
            <a:ext cx="3154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FFC107"/>
                </a:solidFill>
              </a:defRPr>
            </a:pPr>
            <a:r>
              <a:t>Milestone: Clinical Pilot &amp; Hospital EHR Linkage</a:t>
            </a:r>
          </a:p>
          <a:p>
            <a:pPr>
              <a:spcAft>
                <a:spcPts val="500"/>
              </a:spcAft>
              <a:defRPr sz="1050">
                <a:solidFill>
                  <a:srgbClr val="D7E2F5"/>
                </a:solidFill>
              </a:defRPr>
            </a:pPr>
            <a:r>
              <a:t>- Build FHIR / HL7 standard connectors for Hospital Information Systems (HIS).</a:t>
            </a:r>
          </a:p>
          <a:p>
            <a:pPr>
              <a:spcAft>
                <a:spcPts val="500"/>
              </a:spcAft>
              <a:defRPr sz="1050">
                <a:solidFill>
                  <a:srgbClr val="D7E2F5"/>
                </a:solidFill>
              </a:defRPr>
            </a:pPr>
            <a:r>
              <a:t>- Multi-drug regimen screener: Check N-way (3 to 10 drug) combinations simultaneously.</a:t>
            </a:r>
          </a:p>
          <a:p>
            <a:pPr>
              <a:spcAft>
                <a:spcPts val="500"/>
              </a:spcAft>
              <a:defRPr sz="1050">
                <a:solidFill>
                  <a:srgbClr val="D7E2F5"/>
                </a:solidFill>
              </a:defRPr>
            </a:pPr>
            <a:r>
              <a:t>- Pilot trial in tertiary hospital cardiology &amp; oncology inpatient departments.</a:t>
            </a:r>
          </a:p>
          <a:p>
            <a:pPr>
              <a:spcAft>
                <a:spcPts val="500"/>
              </a:spcAft>
              <a:defRPr sz="1050">
                <a:solidFill>
                  <a:srgbClr val="D7E2F5"/>
                </a:solidFill>
              </a:defRPr>
            </a:pPr>
            <a:r>
              <a:t>- Mobile application for rural healthcare workers &amp; pharmacists.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45920"/>
            <a:ext cx="3429000" cy="3840480"/>
          </a:xfrm>
          <a:prstGeom prst="roundRect">
            <a:avLst/>
          </a:prstGeom>
          <a:solidFill>
            <a:srgbClr val="162447"/>
          </a:solidFill>
          <a:ln w="15240">
            <a:solidFill>
              <a:srgbClr val="26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80" y="1737360"/>
            <a:ext cx="3154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6D6A0"/>
                </a:solidFill>
              </a:defRPr>
            </a:pPr>
            <a:r>
              <a:t>Phase 3: National Scale &amp; Pharma API (Months 6-18)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2194560"/>
            <a:ext cx="3154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06D6A0"/>
                </a:solidFill>
              </a:defRPr>
            </a:pPr>
            <a:r>
              <a:t>Milestone: National Telemedicine &amp; Pharma Adoption</a:t>
            </a:r>
          </a:p>
          <a:p>
            <a:pPr>
              <a:spcAft>
                <a:spcPts val="500"/>
              </a:spcAft>
              <a:defRPr sz="1050">
                <a:solidFill>
                  <a:srgbClr val="D7E2F5"/>
                </a:solidFill>
              </a:defRPr>
            </a:pPr>
            <a:r>
              <a:t>- Deploy as a verified clinical copilot module within e-Sanjeevani telemedicine.</a:t>
            </a:r>
          </a:p>
          <a:p>
            <a:pPr>
              <a:spcAft>
                <a:spcPts val="500"/>
              </a:spcAft>
              <a:defRPr sz="1050">
                <a:solidFill>
                  <a:srgbClr val="D7E2F5"/>
                </a:solidFill>
              </a:defRPr>
            </a:pPr>
            <a:r>
              <a:t>- Preclinical screening SaaS portal for Indian pharmaceutical manufacturers.</a:t>
            </a:r>
          </a:p>
          <a:p>
            <a:pPr>
              <a:spcAft>
                <a:spcPts val="500"/>
              </a:spcAft>
              <a:defRPr sz="1050">
                <a:solidFill>
                  <a:srgbClr val="D7E2F5"/>
                </a:solidFill>
              </a:defRPr>
            </a:pPr>
            <a:r>
              <a:t>- Real-world evidence gathering in collaboration with Indian Pharmacopoeia Commission.</a:t>
            </a:r>
          </a:p>
          <a:p>
            <a:pPr>
              <a:spcAft>
                <a:spcPts val="500"/>
              </a:spcAft>
              <a:defRPr sz="1050">
                <a:solidFill>
                  <a:srgbClr val="D7E2F5"/>
                </a:solidFill>
              </a:defRPr>
            </a:pPr>
            <a:r>
              <a:t>- Prospective clinical validation study for publication in peer-reviewed journals.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623560"/>
            <a:ext cx="10728655" cy="822960"/>
          </a:xfrm>
          <a:prstGeom prst="roundRect">
            <a:avLst/>
          </a:prstGeom>
          <a:solidFill>
            <a:srgbClr val="0F2D52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715000"/>
            <a:ext cx="103628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CONCLUSION &amp; VISION: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AuditDDI transforms drug safety from retrospective crisis management to proactive, auditable AI prediction — safeguarding millions of vulnerable patients across India and the globe.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